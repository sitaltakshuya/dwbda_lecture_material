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90" r:id="rId30"/>
    <p:sldId id="285" r:id="rId31"/>
    <p:sldId id="286" r:id="rId32"/>
    <p:sldId id="287" r:id="rId33"/>
    <p:sldId id="288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A628-EE8B-603D-8D16-1EF09E41A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01514-4BBF-556B-7D67-D6CDCC20D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C1BF5-073B-0C56-110D-1A385B389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A570C-D979-1ED9-EB2F-89BC0F92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68A6F-7808-AE47-7D7D-9D9A0CCB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3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8869-646B-093A-A2AF-EE2A742F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7FB9D-82ED-17C1-7F13-2890B1574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BC4FE-9778-59BD-16CE-9204E0411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C7B28-517F-72FC-1F79-5EF835E2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4F3E4-523A-E0F4-EDE7-2080D5A1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26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1C5E-6AA3-E503-91D5-7EDE12E3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4E159-5375-EF20-8F20-BBA2890CD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46A5B-D2FA-3940-8318-9F1CDBED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98582-3973-FDDB-6AD0-B0EAB71B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79E9F-196D-2A8C-D166-602E413C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99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452A-04F0-5E0C-5825-7359E3CB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94981-CC5E-544E-6C99-8FBEE7238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92FA1-AB8A-03CE-1381-3B2ECBF4B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13EBD-DDF6-D514-3CA9-AA1B83A9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062A3-0902-7AC0-078F-CBFD1263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83E66-3F52-C931-FEC1-F85C36A35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5884-AC4A-B1A8-F6CC-2EA75608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D8F0B-5331-DE3F-DF38-A3E5C6428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47D07-321A-E212-C944-B7BE8C4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34256-2D8A-090E-9BEB-917D66AFA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C339B-0F39-92AE-0631-044AF3D34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E62AA-F534-C0E6-57E8-0FE2FE89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A883B-746E-84E0-791F-5BD4891A5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73B34-2A69-9417-1ED6-1BC44FDE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97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6AF9E-4A2B-2E16-B6EB-03CEC32A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4FCF4-B8FB-5F61-8C07-6587ECF7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5359B-9337-66F9-3D85-CB2928EF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39D11-BC6D-BCB1-9F86-4B7169BA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870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5B126-7876-6A52-09CD-7585E2E6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9C335-ADCC-C042-08A5-C2B6B36B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BE11F-A5B7-CF4D-8E17-80EAA872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06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4E335-3BA7-FF8C-41FF-3ABA5E3C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930AB-53A4-DBB1-CD28-5A7E77C84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20BBF-2721-69B0-E727-603011CEE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2EF53-AA06-6B8E-1400-501B89B5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DD94B-3B78-44A6-1AE1-8D83B7DB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3EFCD-668A-3AE5-C43D-7867F791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44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F7BE5-FEAA-27CF-ABB0-4B0F2894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1FAC73-B6EA-929A-D693-3940072B6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DBCF4-35F6-3962-920D-66B85FE28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64967-D1EC-0441-F94F-9AD7E94A2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C2F8-A3F0-8615-22EA-E84FE093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0443B-95A0-E042-2205-70FB6CCC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5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106DC-7E82-E196-BA03-BC7BCEC59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E01CD-559D-0092-0AD5-D54C88810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E2C9D-FC1F-43A6-0D0F-BFF6D462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17A9C-0AEA-AC1C-2A3C-76A098F0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BCAE0-1D84-84E0-864C-0162B94F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636B1C-C743-1707-FFBB-3238D568A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2682D-D1FA-2E35-74C1-83B54434E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38D49-B822-9BB4-8088-B6B592F04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6C1B2-B515-A26C-78CB-36B2E1F7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26FA9-6AF6-09E4-DCF2-C9F20302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01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BD01E-0841-4EDC-3090-325BE313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69DC3-B387-8AFA-B240-E614794C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7443-E8D5-5DB2-EDB1-3E9C5F657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C224B8-2B96-45F8-B5DF-1A72B86AB56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3A359-808F-FE97-EFC7-1A337B942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5C7F9-FD4F-F699-388E-29CDCD6D6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B11A88-079D-479C-A28F-FC2EBF3603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63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E9A8-10AC-0D3F-ECB7-DF6B6AFF7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APRIORI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43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8594-80A2-B886-5D99-51716FEA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Association Rule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648D8-5653-028A-C70B-CD9F9472F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Role: Manager of SMIT Store</a:t>
            </a:r>
          </a:p>
          <a:p>
            <a:r>
              <a:rPr lang="en-IN" dirty="0"/>
              <a:t>Question : What useful information can you get from the following data?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C18F9C-1C61-7EB6-65DC-0DA2A46A7D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658449"/>
              </p:ext>
            </p:extLst>
          </p:nvPr>
        </p:nvGraphicFramePr>
        <p:xfrm>
          <a:off x="1790491" y="3282984"/>
          <a:ext cx="8611018" cy="24442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05509">
                  <a:extLst>
                    <a:ext uri="{9D8B030D-6E8A-4147-A177-3AD203B41FA5}">
                      <a16:colId xmlns:a16="http://schemas.microsoft.com/office/drawing/2014/main" val="3392410234"/>
                    </a:ext>
                  </a:extLst>
                </a:gridCol>
                <a:gridCol w="4305509">
                  <a:extLst>
                    <a:ext uri="{9D8B030D-6E8A-4147-A177-3AD203B41FA5}">
                      <a16:colId xmlns:a16="http://schemas.microsoft.com/office/drawing/2014/main" val="1111688527"/>
                    </a:ext>
                  </a:extLst>
                </a:gridCol>
              </a:tblGrid>
              <a:tr h="407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Products Purchased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67737"/>
                  </a:ext>
                </a:extLst>
              </a:tr>
              <a:tr h="407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Milk, 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326841"/>
                  </a:ext>
                </a:extLst>
              </a:tr>
              <a:tr h="407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Bread, Butter, Jam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544678"/>
                  </a:ext>
                </a:extLst>
              </a:tr>
              <a:tr h="407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Milk, Bread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440456"/>
                  </a:ext>
                </a:extLst>
              </a:tr>
              <a:tr h="407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8469610"/>
                  </a:ext>
                </a:extLst>
              </a:tr>
              <a:tr h="4073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0" dirty="0"/>
                        <a:t>Milk, 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4141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462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9D63-A6C9-8E67-6A18-96A8F74F2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9744"/>
            <a:ext cx="10515600" cy="5787219"/>
          </a:xfrm>
        </p:spPr>
        <p:txBody>
          <a:bodyPr/>
          <a:lstStyle/>
          <a:p>
            <a:pPr lvl="0"/>
            <a:r>
              <a:rPr lang="en-IN" dirty="0">
                <a:highlight>
                  <a:srgbClr val="FFFF00"/>
                </a:highlight>
              </a:rPr>
              <a:t>Bread is purchased very frequently. </a:t>
            </a:r>
          </a:p>
          <a:p>
            <a:pPr lvl="0"/>
            <a:r>
              <a:rPr lang="en-IN" dirty="0">
                <a:highlight>
                  <a:srgbClr val="FFFF00"/>
                </a:highlight>
              </a:rPr>
              <a:t>Milk and Bread frequently occur together. </a:t>
            </a:r>
          </a:p>
          <a:p>
            <a:pPr lvl="0"/>
            <a:r>
              <a:rPr lang="en-IN" dirty="0">
                <a:highlight>
                  <a:srgbClr val="FFFF00"/>
                </a:highlight>
              </a:rPr>
              <a:t>Bread and Butter frequently occur together. </a:t>
            </a:r>
          </a:p>
          <a:p>
            <a:pPr lvl="0"/>
            <a:r>
              <a:rPr lang="en-IN" dirty="0">
                <a:highlight>
                  <a:srgbClr val="FFFF00"/>
                </a:highlight>
              </a:rPr>
              <a:t>Milk, Bread and Butter occur together in some transactions.</a:t>
            </a:r>
          </a:p>
          <a:p>
            <a:r>
              <a:rPr lang="en-IN" dirty="0"/>
              <a:t>We can use these patterns to discover relationships between items.</a:t>
            </a:r>
          </a:p>
          <a:p>
            <a:r>
              <a:rPr lang="en-IN" dirty="0"/>
              <a:t>This is called:</a:t>
            </a:r>
          </a:p>
          <a:p>
            <a:pPr lvl="1"/>
            <a:r>
              <a:rPr lang="en-IN" dirty="0"/>
              <a:t>Association Rule Mining</a:t>
            </a:r>
          </a:p>
          <a:p>
            <a:pPr lvl="0"/>
            <a:endParaRPr lang="en-IN" dirty="0">
              <a:highlight>
                <a:srgbClr val="FFFF00"/>
              </a:highlight>
            </a:endParaRPr>
          </a:p>
          <a:p>
            <a:r>
              <a:rPr lang="en-IN" dirty="0">
                <a:highlight>
                  <a:srgbClr val="00FF00"/>
                </a:highlight>
              </a:rPr>
              <a:t>And one of the most famous algorithms used for association rule mining is:</a:t>
            </a:r>
          </a:p>
          <a:p>
            <a:pPr lvl="1"/>
            <a:r>
              <a:rPr lang="en-IN" b="1" dirty="0" err="1">
                <a:highlight>
                  <a:srgbClr val="00FF00"/>
                </a:highlight>
              </a:rPr>
              <a:t>Apriori</a:t>
            </a:r>
            <a:r>
              <a:rPr lang="en-IN" b="1" dirty="0">
                <a:highlight>
                  <a:srgbClr val="00FF00"/>
                </a:highlight>
              </a:rPr>
              <a:t> Algorithm</a:t>
            </a:r>
            <a:endParaRPr lang="en-IN" dirty="0">
              <a:highlight>
                <a:srgbClr val="00FF00"/>
              </a:highlight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2089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E1B7-9E0C-0654-BBA9-D4BD13C0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F15B5-6CEB-2B0F-39AD-62D05316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</a:t>
            </a:r>
            <a:r>
              <a:rPr lang="en-IN" dirty="0" err="1"/>
              <a:t>Apriori</a:t>
            </a:r>
            <a:r>
              <a:rPr lang="en-IN" dirty="0"/>
              <a:t>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1C3FB-21FF-4BD4-CDAA-8CC6165DF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75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02A96-CC4B-6E1C-5427-CE6758276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the </a:t>
            </a:r>
            <a:r>
              <a:rPr lang="en-IN" dirty="0" err="1"/>
              <a:t>Apriori</a:t>
            </a:r>
            <a:r>
              <a:rPr lang="en-IN" dirty="0"/>
              <a:t>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BE928-D276-6C10-BC3D-0AEE70D4A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Apriori</a:t>
            </a:r>
            <a:r>
              <a:rPr lang="en-IN" dirty="0"/>
              <a:t> is a frequent-itemset mining algorithm used to discover frequent combinations of items and generate association rules from them.</a:t>
            </a:r>
          </a:p>
        </p:txBody>
      </p:sp>
    </p:spTree>
    <p:extLst>
      <p:ext uri="{BB962C8B-B14F-4D97-AF65-F5344CB8AC3E}">
        <p14:creationId xmlns:p14="http://schemas.microsoft.com/office/powerpoint/2010/main" val="316444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85DF-8A3F-0457-046C-CA9D6B35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"</a:t>
            </a:r>
            <a:r>
              <a:rPr lang="en-IN" dirty="0" err="1"/>
              <a:t>Apriori</a:t>
            </a:r>
            <a:r>
              <a:rPr lang="en-IN" dirty="0"/>
              <a:t>"?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A14D-34CE-CD8B-6B95-34D366E37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name comes from the </a:t>
            </a:r>
            <a:r>
              <a:rPr lang="en-IN" b="1" dirty="0" err="1"/>
              <a:t>Apriori</a:t>
            </a:r>
            <a:r>
              <a:rPr lang="en-IN" b="1" dirty="0"/>
              <a:t> property</a:t>
            </a:r>
            <a:r>
              <a:rPr lang="en-IN" dirty="0"/>
              <a:t>.</a:t>
            </a:r>
          </a:p>
          <a:p>
            <a:r>
              <a:rPr lang="en-IN" dirty="0">
                <a:highlight>
                  <a:srgbClr val="FFFF00"/>
                </a:highlight>
              </a:rPr>
              <a:t>All non-empty subsets of a frequent itemset must also be frequent</a:t>
            </a:r>
          </a:p>
        </p:txBody>
      </p:sp>
    </p:spTree>
    <p:extLst>
      <p:ext uri="{BB962C8B-B14F-4D97-AF65-F5344CB8AC3E}">
        <p14:creationId xmlns:p14="http://schemas.microsoft.com/office/powerpoint/2010/main" val="104639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277A-CAE1-0FAE-AEC4-9835E70E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F249-B448-8637-2CEF-C17F7F4E8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"</a:t>
            </a:r>
            <a:r>
              <a:rPr lang="en-IN" dirty="0" err="1"/>
              <a:t>Apriori</a:t>
            </a:r>
            <a:r>
              <a:rPr lang="en-IN" dirty="0"/>
              <a:t>"?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B95C2-B270-AC4A-4112-F816784FF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Suppose:</a:t>
            </a:r>
          </a:p>
          <a:p>
            <a:pPr lvl="1"/>
            <a:r>
              <a:rPr lang="en-IN" dirty="0"/>
              <a:t>{</a:t>
            </a:r>
            <a:r>
              <a:rPr lang="en-IN" dirty="0" err="1"/>
              <a:t>Milk,Bread,Butter</a:t>
            </a:r>
            <a:r>
              <a:rPr lang="en-IN" dirty="0"/>
              <a:t>} </a:t>
            </a:r>
          </a:p>
          <a:p>
            <a:r>
              <a:rPr lang="en-IN" dirty="0"/>
              <a:t>is a frequent itemset.</a:t>
            </a:r>
          </a:p>
          <a:p>
            <a:r>
              <a:rPr lang="en-IN" dirty="0"/>
              <a:t>Find its subsets:??????</a:t>
            </a:r>
          </a:p>
          <a:p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76580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F798-937C-8A81-AC9D-BE699F96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C31D-7AFF-4FD6-334A-3770447E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"</a:t>
            </a:r>
            <a:r>
              <a:rPr lang="en-IN" dirty="0" err="1"/>
              <a:t>Apriori</a:t>
            </a:r>
            <a:r>
              <a:rPr lang="en-IN" dirty="0"/>
              <a:t>"?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D7D9-9BAF-44B7-C1E9-6952FD030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Suppose:</a:t>
            </a:r>
          </a:p>
          <a:p>
            <a:pPr lvl="1"/>
            <a:r>
              <a:rPr lang="en-IN" dirty="0"/>
              <a:t>{</a:t>
            </a:r>
            <a:r>
              <a:rPr lang="en-IN" dirty="0" err="1"/>
              <a:t>Milk,Bread,Butter</a:t>
            </a:r>
            <a:r>
              <a:rPr lang="en-IN" dirty="0"/>
              <a:t>} </a:t>
            </a:r>
          </a:p>
          <a:p>
            <a:r>
              <a:rPr lang="en-IN" dirty="0"/>
              <a:t>is a frequent itemset.</a:t>
            </a:r>
          </a:p>
          <a:p>
            <a:r>
              <a:rPr lang="en-IN" dirty="0"/>
              <a:t>Find its subsets:{</a:t>
            </a:r>
            <a:r>
              <a:rPr lang="en-IN" dirty="0" err="1"/>
              <a:t>Milk,Bread</a:t>
            </a:r>
            <a:r>
              <a:rPr lang="en-IN" dirty="0"/>
              <a:t>} {</a:t>
            </a:r>
            <a:r>
              <a:rPr lang="en-IN" dirty="0" err="1"/>
              <a:t>Milk,Butter</a:t>
            </a:r>
            <a:r>
              <a:rPr lang="en-IN" dirty="0"/>
              <a:t>} {</a:t>
            </a:r>
            <a:r>
              <a:rPr lang="en-IN" dirty="0" err="1"/>
              <a:t>Bread,Butter</a:t>
            </a:r>
            <a:r>
              <a:rPr lang="en-IN" dirty="0"/>
              <a:t>} 					{Milk},{Bread},{Butter}</a:t>
            </a:r>
          </a:p>
          <a:p>
            <a:endParaRPr lang="en-IN" dirty="0"/>
          </a:p>
          <a:p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4534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D121A-83A9-A3B0-218C-6921F71B4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6505-5AF4-22B9-61C3-8C58B20A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"</a:t>
            </a:r>
            <a:r>
              <a:rPr lang="en-IN" dirty="0" err="1"/>
              <a:t>Apriori</a:t>
            </a:r>
            <a:r>
              <a:rPr lang="en-IN" dirty="0"/>
              <a:t>"?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B27E4-C7B4-E66E-D369-D97C6439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Suppose:</a:t>
            </a:r>
          </a:p>
          <a:p>
            <a:pPr lvl="1"/>
            <a:r>
              <a:rPr lang="en-IN" dirty="0"/>
              <a:t>{</a:t>
            </a:r>
            <a:r>
              <a:rPr lang="en-IN" dirty="0" err="1"/>
              <a:t>Milk,Bread,Butter</a:t>
            </a:r>
            <a:r>
              <a:rPr lang="en-IN" dirty="0"/>
              <a:t>} </a:t>
            </a:r>
          </a:p>
          <a:p>
            <a:r>
              <a:rPr lang="en-IN" dirty="0"/>
              <a:t>is a frequent itemset.</a:t>
            </a:r>
          </a:p>
          <a:p>
            <a:r>
              <a:rPr lang="en-IN" dirty="0"/>
              <a:t>Find its subsets:{</a:t>
            </a:r>
            <a:r>
              <a:rPr lang="en-IN" dirty="0" err="1"/>
              <a:t>Milk,Bread</a:t>
            </a:r>
            <a:r>
              <a:rPr lang="en-IN" dirty="0"/>
              <a:t>} {</a:t>
            </a:r>
            <a:r>
              <a:rPr lang="en-IN" dirty="0" err="1"/>
              <a:t>Milk,Butter</a:t>
            </a:r>
            <a:r>
              <a:rPr lang="en-IN" dirty="0"/>
              <a:t>} {</a:t>
            </a:r>
            <a:r>
              <a:rPr lang="en-IN" dirty="0" err="1"/>
              <a:t>Bread,Butter</a:t>
            </a:r>
            <a:r>
              <a:rPr lang="en-IN" dirty="0"/>
              <a:t>} 					{Milk},{Bread},{Butter}</a:t>
            </a:r>
          </a:p>
          <a:p>
            <a:r>
              <a:rPr lang="en-IN" dirty="0"/>
              <a:t>According to the </a:t>
            </a:r>
            <a:r>
              <a:rPr lang="en-IN" dirty="0" err="1"/>
              <a:t>Apriori</a:t>
            </a:r>
            <a:r>
              <a:rPr lang="en-IN" dirty="0"/>
              <a:t> property, these subsets must also be frequent.</a:t>
            </a:r>
          </a:p>
          <a:p>
            <a:endParaRPr lang="en-IN" dirty="0"/>
          </a:p>
          <a:p>
            <a:endParaRPr lang="en-IN" dirty="0"/>
          </a:p>
          <a:p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88886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185B-F97C-DACD-9DD5-3DF7F306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F8781-E21F-93E9-9891-5C5461F3F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Suppose:</a:t>
            </a:r>
          </a:p>
          <a:p>
            <a:r>
              <a:rPr lang="en-IN" dirty="0"/>
              <a:t>{</a:t>
            </a:r>
            <a:r>
              <a:rPr lang="en-IN" dirty="0" err="1"/>
              <a:t>Milk,Butter</a:t>
            </a:r>
            <a:r>
              <a:rPr lang="en-IN" dirty="0"/>
              <a:t>} is </a:t>
            </a:r>
            <a:r>
              <a:rPr lang="en-IN" b="1" dirty="0"/>
              <a:t>not frequent</a:t>
            </a:r>
            <a:r>
              <a:rPr lang="en-IN" dirty="0"/>
              <a:t>.</a:t>
            </a:r>
          </a:p>
          <a:p>
            <a:r>
              <a:rPr lang="en-IN" dirty="0"/>
              <a:t>Can:</a:t>
            </a:r>
          </a:p>
          <a:p>
            <a:pPr lvl="1"/>
            <a:r>
              <a:rPr lang="en-IN" b="1" dirty="0"/>
              <a:t>{</a:t>
            </a:r>
            <a:r>
              <a:rPr lang="en-IN" b="1" dirty="0" err="1"/>
              <a:t>Milk,Bread,Butter</a:t>
            </a:r>
            <a:r>
              <a:rPr lang="en-IN" b="1" dirty="0"/>
              <a:t>}  be frequent?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307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70262-E508-5BFC-D9FA-7700CB59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5D04-4D9A-54D2-F234-1DEEE29C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2F28B-9345-8E1C-3F79-E0BBF7A7B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Suppose:</a:t>
            </a:r>
          </a:p>
          <a:p>
            <a:r>
              <a:rPr lang="en-IN" dirty="0"/>
              <a:t>{</a:t>
            </a:r>
            <a:r>
              <a:rPr lang="en-IN" dirty="0" err="1"/>
              <a:t>Milk,Butter</a:t>
            </a:r>
            <a:r>
              <a:rPr lang="en-IN" dirty="0"/>
              <a:t>} is </a:t>
            </a:r>
            <a:r>
              <a:rPr lang="en-IN" b="1" dirty="0"/>
              <a:t>not frequent</a:t>
            </a:r>
            <a:r>
              <a:rPr lang="en-IN" dirty="0"/>
              <a:t>.</a:t>
            </a:r>
          </a:p>
          <a:p>
            <a:r>
              <a:rPr lang="en-IN" dirty="0"/>
              <a:t>Can:</a:t>
            </a:r>
          </a:p>
          <a:p>
            <a:pPr lvl="1"/>
            <a:r>
              <a:rPr lang="en-IN" b="1" dirty="0"/>
              <a:t>{</a:t>
            </a:r>
            <a:r>
              <a:rPr lang="en-IN" b="1" dirty="0" err="1"/>
              <a:t>Milk,Bread,Butter</a:t>
            </a:r>
            <a:r>
              <a:rPr lang="en-IN" b="1" dirty="0"/>
              <a:t>}  be frequent?</a:t>
            </a:r>
          </a:p>
          <a:p>
            <a:pPr lvl="1"/>
            <a:endParaRPr lang="en-IN" b="1" dirty="0"/>
          </a:p>
          <a:p>
            <a:r>
              <a:rPr lang="en-IN" b="1" dirty="0"/>
              <a:t>Ans: No (BUT WHY)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9144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6FEF-155F-239A-7263-4AAD86FC4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1DBD-9BEE-5EED-98DE-FC36B0B9C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FF634-F5BA-DB49-01FA-ED40AFDE8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Suppose:</a:t>
            </a:r>
          </a:p>
          <a:p>
            <a:r>
              <a:rPr lang="en-IN" dirty="0"/>
              <a:t>{</a:t>
            </a:r>
            <a:r>
              <a:rPr lang="en-IN" dirty="0" err="1"/>
              <a:t>Milk,Butter</a:t>
            </a:r>
            <a:r>
              <a:rPr lang="en-IN" dirty="0"/>
              <a:t>} is </a:t>
            </a:r>
            <a:r>
              <a:rPr lang="en-IN" b="1" dirty="0"/>
              <a:t>not frequent</a:t>
            </a:r>
            <a:r>
              <a:rPr lang="en-IN" dirty="0"/>
              <a:t>.</a:t>
            </a:r>
          </a:p>
          <a:p>
            <a:r>
              <a:rPr lang="en-IN" dirty="0"/>
              <a:t>Can:</a:t>
            </a:r>
          </a:p>
          <a:p>
            <a:pPr lvl="1"/>
            <a:r>
              <a:rPr lang="en-IN" b="1" dirty="0"/>
              <a:t>{</a:t>
            </a:r>
            <a:r>
              <a:rPr lang="en-IN" b="1" dirty="0" err="1"/>
              <a:t>Milk,Bread,Butter</a:t>
            </a:r>
            <a:r>
              <a:rPr lang="en-IN" b="1" dirty="0"/>
              <a:t>}  be frequent?</a:t>
            </a:r>
          </a:p>
          <a:p>
            <a:r>
              <a:rPr lang="en-IN" b="1" dirty="0"/>
              <a:t>Ans: No (BUT WHY)</a:t>
            </a:r>
          </a:p>
          <a:p>
            <a:r>
              <a:rPr lang="en-IN" dirty="0"/>
              <a:t>Every transaction containing:</a:t>
            </a:r>
          </a:p>
          <a:p>
            <a:pPr lvl="1"/>
            <a:r>
              <a:rPr lang="en-IN" dirty="0" err="1">
                <a:highlight>
                  <a:srgbClr val="FFFF00"/>
                </a:highlight>
              </a:rPr>
              <a:t>Milk+Bread+Butter</a:t>
            </a:r>
            <a:r>
              <a:rPr lang="en-IN" dirty="0">
                <a:highlight>
                  <a:srgbClr val="FFFF00"/>
                </a:highlight>
              </a:rPr>
              <a:t> must also </a:t>
            </a:r>
            <a:r>
              <a:rPr lang="en-IN" dirty="0" err="1">
                <a:highlight>
                  <a:srgbClr val="FFFF00"/>
                </a:highlight>
              </a:rPr>
              <a:t>contain:Milk+Butter</a:t>
            </a:r>
            <a:endParaRPr lang="en-IN" b="1" dirty="0">
              <a:highlight>
                <a:srgbClr val="FFFF00"/>
              </a:highlight>
            </a:endParaRPr>
          </a:p>
          <a:p>
            <a:r>
              <a:rPr lang="en-IN" dirty="0">
                <a:highlight>
                  <a:srgbClr val="FFFF00"/>
                </a:highlight>
              </a:rPr>
              <a:t>If an itemset is infrequent, all of its supersets can be eliminated.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204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FE2C-55A2-7FFA-3858-171CAA42A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BBC55-314F-4ECD-7534-4F2159696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Item: </a:t>
            </a:r>
            <a:r>
              <a:rPr lang="en-IN" dirty="0"/>
              <a:t>A single product.</a:t>
            </a:r>
          </a:p>
          <a:p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4668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DE840-FBE3-0576-683B-6F344A3DE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8822E-D4DD-F0A3-FF0D-F1017028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FFF5F-93BA-EFA8-6C4F-E2789EC49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Item: </a:t>
            </a:r>
            <a:r>
              <a:rPr lang="en-IN" dirty="0"/>
              <a:t>A single product.</a:t>
            </a:r>
          </a:p>
          <a:p>
            <a:r>
              <a:rPr lang="en-IN" b="1" dirty="0" err="1"/>
              <a:t>Itemset:</a:t>
            </a:r>
            <a:r>
              <a:rPr lang="en-IN" dirty="0" err="1"/>
              <a:t>A</a:t>
            </a:r>
            <a:r>
              <a:rPr lang="en-IN" dirty="0"/>
              <a:t> collection of one or more items.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56459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760F-E801-B73F-EDD7-11A3A76C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274A-4B3F-CAA7-4279-CE141D29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62FD1-19A7-54D3-670D-C0414C9DA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Item: </a:t>
            </a:r>
            <a:r>
              <a:rPr lang="en-IN" dirty="0"/>
              <a:t>A single product.</a:t>
            </a:r>
          </a:p>
          <a:p>
            <a:r>
              <a:rPr lang="en-IN" b="1" dirty="0" err="1"/>
              <a:t>Itemset:</a:t>
            </a:r>
            <a:r>
              <a:rPr lang="en-IN" dirty="0" err="1"/>
              <a:t>A</a:t>
            </a:r>
            <a:r>
              <a:rPr lang="en-IN" dirty="0"/>
              <a:t> collection of one or more items.</a:t>
            </a:r>
          </a:p>
          <a:p>
            <a:r>
              <a:rPr lang="en-IN" b="1" dirty="0"/>
              <a:t>1-itemset : </a:t>
            </a:r>
            <a:r>
              <a:rPr lang="en-IN" dirty="0"/>
              <a:t>Contains one item.</a:t>
            </a:r>
          </a:p>
          <a:p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98034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1F42-FA56-1733-0D04-15C84D6D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426F-E443-8A87-9CB2-6E606E63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345B9-BB2C-D6E3-9212-445A7F373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Item: </a:t>
            </a:r>
            <a:r>
              <a:rPr lang="en-IN" dirty="0"/>
              <a:t>A single product.</a:t>
            </a:r>
          </a:p>
          <a:p>
            <a:r>
              <a:rPr lang="en-IN" b="1" dirty="0" err="1"/>
              <a:t>Itemset:</a:t>
            </a:r>
            <a:r>
              <a:rPr lang="en-IN" dirty="0" err="1"/>
              <a:t>A</a:t>
            </a:r>
            <a:r>
              <a:rPr lang="en-IN" dirty="0"/>
              <a:t> collection of one or more items.</a:t>
            </a:r>
          </a:p>
          <a:p>
            <a:r>
              <a:rPr lang="en-IN" b="1" dirty="0"/>
              <a:t>1-itemset : </a:t>
            </a:r>
            <a:r>
              <a:rPr lang="en-IN" dirty="0"/>
              <a:t>Contains one item.</a:t>
            </a:r>
          </a:p>
          <a:p>
            <a:r>
              <a:rPr lang="en-IN" b="1" dirty="0"/>
              <a:t>2-itemset: </a:t>
            </a:r>
            <a:r>
              <a:rPr lang="en-IN" dirty="0"/>
              <a:t>Contains two items.</a:t>
            </a:r>
          </a:p>
          <a:p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6608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0C057-4C39-15C8-297D-B8E25E38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9A0A-1BC0-ECC5-948C-F2A96DB3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Important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716E8-EF1B-BE41-2226-8E2E0C6B8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Item: </a:t>
            </a:r>
            <a:r>
              <a:rPr lang="en-IN" dirty="0"/>
              <a:t>A single product.</a:t>
            </a:r>
          </a:p>
          <a:p>
            <a:r>
              <a:rPr lang="en-IN" b="1" dirty="0" err="1"/>
              <a:t>Itemset:</a:t>
            </a:r>
            <a:r>
              <a:rPr lang="en-IN" dirty="0" err="1"/>
              <a:t>A</a:t>
            </a:r>
            <a:r>
              <a:rPr lang="en-IN" dirty="0"/>
              <a:t> collection of one or more items.</a:t>
            </a:r>
          </a:p>
          <a:p>
            <a:r>
              <a:rPr lang="en-IN" b="1" dirty="0"/>
              <a:t>1-itemset : </a:t>
            </a:r>
            <a:r>
              <a:rPr lang="en-IN" dirty="0"/>
              <a:t>Contains one item.</a:t>
            </a:r>
          </a:p>
          <a:p>
            <a:r>
              <a:rPr lang="en-IN" b="1" dirty="0"/>
              <a:t>2-itemset: </a:t>
            </a:r>
            <a:r>
              <a:rPr lang="en-IN" dirty="0"/>
              <a:t>Contains two items.</a:t>
            </a:r>
          </a:p>
          <a:p>
            <a:r>
              <a:rPr lang="en-IN" b="1" dirty="0"/>
              <a:t>3-itemset:</a:t>
            </a:r>
            <a:r>
              <a:rPr lang="en-IN" dirty="0"/>
              <a:t>Contains three items.</a:t>
            </a:r>
          </a:p>
          <a:p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18427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F5BC-C2D4-20CC-9847-AAC2B5A9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Candidate Itemset and Frequent Itemset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EE23-7716-9740-8224-E24B3983F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Candidate Itemset — C: </a:t>
            </a:r>
            <a:r>
              <a:rPr lang="en-IN" dirty="0"/>
              <a:t>A candidate is an itemset that we are currently considering.</a:t>
            </a:r>
          </a:p>
          <a:p>
            <a:r>
              <a:rPr lang="en-IN" dirty="0"/>
              <a:t>We represent candidate sets as: Ck​</a:t>
            </a:r>
          </a:p>
          <a:p>
            <a:r>
              <a:rPr lang="en-IN" dirty="0"/>
              <a:t>For example:</a:t>
            </a:r>
          </a:p>
          <a:p>
            <a:pPr lvl="1"/>
            <a:r>
              <a:rPr lang="en-IN" b="1" dirty="0"/>
              <a:t>C1​ :contains candidate 1-itemsets.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1356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799F2-EF00-E43A-0FA2-72CBAEE4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Minimum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6EB4C-1955-D740-67EE-9A02DEA4A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need some threshold to decide what "frequent" means.</a:t>
            </a:r>
          </a:p>
          <a:p>
            <a:r>
              <a:rPr lang="en-IN" dirty="0"/>
              <a:t>Suppose: </a:t>
            </a:r>
            <a:r>
              <a:rPr lang="en-IN" dirty="0" err="1"/>
              <a:t>MinimumSupport</a:t>
            </a:r>
            <a:r>
              <a:rPr lang="en-IN" dirty="0"/>
              <a:t>=40% </a:t>
            </a:r>
          </a:p>
          <a:p>
            <a:r>
              <a:rPr lang="en-IN" dirty="0"/>
              <a:t>Then an itemset must occur in at least 40% of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0321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867EA-0C73-983E-2DFD-B4C7FC36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E267-D26C-66BC-60A5-54508333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Decision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BEA6F-7F52-A35D-0560-273CAEC3B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If:</a:t>
            </a:r>
          </a:p>
          <a:p>
            <a:pPr lvl="1"/>
            <a:r>
              <a:rPr lang="en-IN" dirty="0">
                <a:highlight>
                  <a:srgbClr val="FFFF00"/>
                </a:highlight>
              </a:rPr>
              <a:t>Support(X)≥</a:t>
            </a:r>
            <a:r>
              <a:rPr lang="en-IN" dirty="0" err="1">
                <a:highlight>
                  <a:srgbClr val="FFFF00"/>
                </a:highlight>
              </a:rPr>
              <a:t>MinimumSupport</a:t>
            </a:r>
            <a:r>
              <a:rPr lang="en-IN" dirty="0">
                <a:highlight>
                  <a:srgbClr val="FFFF00"/>
                </a:highlight>
              </a:rPr>
              <a:t> </a:t>
            </a:r>
          </a:p>
          <a:p>
            <a:r>
              <a:rPr lang="en-IN" dirty="0"/>
              <a:t>Then</a:t>
            </a:r>
          </a:p>
          <a:p>
            <a:pPr lvl="1"/>
            <a:r>
              <a:rPr lang="en-IN" b="1" dirty="0"/>
              <a:t>Frequent</a:t>
            </a:r>
            <a:endParaRPr lang="en-IN" dirty="0"/>
          </a:p>
          <a:p>
            <a:r>
              <a:rPr lang="en-IN" dirty="0"/>
              <a:t>Otherwise:</a:t>
            </a:r>
          </a:p>
          <a:p>
            <a:pPr lvl="1"/>
            <a:r>
              <a:rPr lang="en-IN" b="1" dirty="0"/>
              <a:t>Infrequent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920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5E9C-D130-DD20-C34B-46A9689AA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COMPLETE APRIORI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6A40A6-7EE4-068C-58C7-D20ED7DB5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356936"/>
              </p:ext>
            </p:extLst>
          </p:nvPr>
        </p:nvGraphicFramePr>
        <p:xfrm>
          <a:off x="838200" y="1448712"/>
          <a:ext cx="10629276" cy="3960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4638">
                  <a:extLst>
                    <a:ext uri="{9D8B030D-6E8A-4147-A177-3AD203B41FA5}">
                      <a16:colId xmlns:a16="http://schemas.microsoft.com/office/drawing/2014/main" val="2707559689"/>
                    </a:ext>
                  </a:extLst>
                </a:gridCol>
                <a:gridCol w="5314638">
                  <a:extLst>
                    <a:ext uri="{9D8B030D-6E8A-4147-A177-3AD203B41FA5}">
                      <a16:colId xmlns:a16="http://schemas.microsoft.com/office/drawing/2014/main" val="3669581489"/>
                    </a:ext>
                  </a:extLst>
                </a:gridCol>
              </a:tblGrid>
              <a:tr h="660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Items Purchased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509102"/>
                  </a:ext>
                </a:extLst>
              </a:tr>
              <a:tr h="660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Milk, 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974924"/>
                  </a:ext>
                </a:extLst>
              </a:tr>
              <a:tr h="660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Bread, Butter, Jam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3870650"/>
                  </a:ext>
                </a:extLst>
              </a:tr>
              <a:tr h="660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Milk, Bread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844355"/>
                  </a:ext>
                </a:extLst>
              </a:tr>
              <a:tr h="660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124609"/>
                  </a:ext>
                </a:extLst>
              </a:tr>
              <a:tr h="660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Milk, Bread, Butter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8105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80D61B3-7720-AB7D-8D92-81C77AFAE7A9}"/>
              </a:ext>
            </a:extLst>
          </p:cNvPr>
          <p:cNvSpPr txBox="1"/>
          <p:nvPr/>
        </p:nvSpPr>
        <p:spPr>
          <a:xfrm>
            <a:off x="1514007" y="5936105"/>
            <a:ext cx="8785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Total transaction=5 , Minimum Support=40%=0.4 and Minimum Confidence = 60% =0.6</a:t>
            </a:r>
          </a:p>
        </p:txBody>
      </p:sp>
    </p:spTree>
    <p:extLst>
      <p:ext uri="{BB962C8B-B14F-4D97-AF65-F5344CB8AC3E}">
        <p14:creationId xmlns:p14="http://schemas.microsoft.com/office/powerpoint/2010/main" val="3513196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F9A8-D44A-BB6E-A7D5-B4710345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— Identify Unique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7B307-5C1F-86FC-F37C-A04EFFEBA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 C1:???????</a:t>
            </a:r>
          </a:p>
        </p:txBody>
      </p:sp>
    </p:spTree>
    <p:extLst>
      <p:ext uri="{BB962C8B-B14F-4D97-AF65-F5344CB8AC3E}">
        <p14:creationId xmlns:p14="http://schemas.microsoft.com/office/powerpoint/2010/main" val="3368542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E9B5E-19B6-9180-EE36-D2282F50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7A9B0-BB46-B6CE-5516-078B33F1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— Identify Unique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8A0F7-0ADA-BEE3-A960-525EEDB3F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 C1:C1​={{Milk},{Bread},{Butter},{Jam}}</a:t>
            </a:r>
          </a:p>
        </p:txBody>
      </p:sp>
    </p:spTree>
    <p:extLst>
      <p:ext uri="{BB962C8B-B14F-4D97-AF65-F5344CB8AC3E}">
        <p14:creationId xmlns:p14="http://schemas.microsoft.com/office/powerpoint/2010/main" val="964421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956C-6411-CE15-3234-7B939ED7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— Calculate Support for C₁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17B5D-FC2D-6901-8BD7-596759086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Support:??</a:t>
            </a:r>
          </a:p>
        </p:txBody>
      </p:sp>
    </p:spTree>
    <p:extLst>
      <p:ext uri="{BB962C8B-B14F-4D97-AF65-F5344CB8AC3E}">
        <p14:creationId xmlns:p14="http://schemas.microsoft.com/office/powerpoint/2010/main" val="2579654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48DC-F37E-455B-3CDC-27B59990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D75E-8315-612F-8D80-28761F3C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— Calculate Support for C₁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C268F9-D511-8371-94FE-DF809DEF76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082832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90064595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7758330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874475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818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Milk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3/5 = 0.6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054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5/5 = 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63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Butter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4/5 = 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705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Jam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1/5 = 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429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260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7347-419B-C057-8C13-56F0A4DC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to keep and remove in Frequent Item-Set(Lk)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7760F-534E-CFA8-A71B-C1E60CB0F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Guess?</a:t>
            </a:r>
          </a:p>
        </p:txBody>
      </p:sp>
    </p:spTree>
    <p:extLst>
      <p:ext uri="{BB962C8B-B14F-4D97-AF65-F5344CB8AC3E}">
        <p14:creationId xmlns:p14="http://schemas.microsoft.com/office/powerpoint/2010/main" val="3416117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8FCC6-D96A-2AF5-456A-642CF24F8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C7F1A-D7EC-FA9A-34C2-EE9FA5E1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to keep and remove in Frequent Item-Set(Lk)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AB83-925E-2192-B081-0590ACD75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Minimum Support: 0.4</a:t>
            </a:r>
          </a:p>
          <a:p>
            <a:r>
              <a:rPr lang="en-IN" dirty="0"/>
              <a:t>Milk = 0.6 &gt;=0.4 KEEP</a:t>
            </a:r>
          </a:p>
          <a:p>
            <a:r>
              <a:rPr lang="en-IN" dirty="0"/>
              <a:t>What are the other items in (Lk)</a:t>
            </a:r>
          </a:p>
        </p:txBody>
      </p:sp>
    </p:spTree>
    <p:extLst>
      <p:ext uri="{BB962C8B-B14F-4D97-AF65-F5344CB8AC3E}">
        <p14:creationId xmlns:p14="http://schemas.microsoft.com/office/powerpoint/2010/main" val="3777378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2929-1B72-6690-FF1A-304526BF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941D-C4B7-9AC6-FCE1-B6B7D9A70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to keep and remove in Frequent Item-Set(Lk)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D77D1-6C88-47D6-DE12-40EA2CD43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Minimum Support: 0.4</a:t>
            </a:r>
          </a:p>
          <a:p>
            <a:r>
              <a:rPr lang="en-IN" dirty="0">
                <a:highlight>
                  <a:srgbClr val="00FF00"/>
                </a:highlight>
              </a:rPr>
              <a:t>Milk = 0.6 &gt;=0.4 KEEP</a:t>
            </a:r>
          </a:p>
          <a:p>
            <a:r>
              <a:rPr lang="en-IN" dirty="0">
                <a:highlight>
                  <a:srgbClr val="00FF00"/>
                </a:highlight>
              </a:rPr>
              <a:t>Bread= KEEP</a:t>
            </a:r>
          </a:p>
          <a:p>
            <a:r>
              <a:rPr lang="en-IN" dirty="0">
                <a:highlight>
                  <a:srgbClr val="00FF00"/>
                </a:highlight>
              </a:rPr>
              <a:t>BUTTER= KEEP</a:t>
            </a:r>
          </a:p>
          <a:p>
            <a:r>
              <a:rPr lang="en-IN" dirty="0">
                <a:highlight>
                  <a:srgbClr val="FF0000"/>
                </a:highlight>
              </a:rPr>
              <a:t>JAM= 0.2 &lt; 0.4 REMOVE</a:t>
            </a:r>
          </a:p>
          <a:p>
            <a:r>
              <a:rPr lang="en-IN" dirty="0"/>
              <a:t>Therefore:</a:t>
            </a:r>
          </a:p>
          <a:p>
            <a:r>
              <a:rPr lang="en-IN" dirty="0"/>
              <a:t>L1​={</a:t>
            </a:r>
            <a:r>
              <a:rPr lang="en-IN" dirty="0" err="1"/>
              <a:t>Milk,Bread,Butter</a:t>
            </a:r>
            <a:r>
              <a:rPr lang="en-IN" dirty="0"/>
              <a:t>}</a:t>
            </a:r>
            <a:endParaRPr lang="en-IN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14476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73499-67E1-B85E-2CE2-28FD358C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3852-4286-5684-43C2-21921FE2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POINT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6AE6A-C4B5-74D3-F14B-0AEAE92BC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CANDIDATE SET </a:t>
            </a:r>
            <a:r>
              <a:rPr lang="en-IN" b="1" dirty="0"/>
              <a:t>C1 GIVES US FREQUENT SET L1 </a:t>
            </a:r>
            <a:r>
              <a:rPr lang="en-IN" dirty="0"/>
              <a:t>AND </a:t>
            </a:r>
            <a:r>
              <a:rPr lang="en-IN" b="1" dirty="0"/>
              <a:t>USE THE L1 TO GENERATE CANDIDATE SET C2 </a:t>
            </a:r>
            <a:r>
              <a:rPr lang="en-IN" dirty="0"/>
              <a:t>TO GET L2 AND USE THE </a:t>
            </a:r>
            <a:r>
              <a:rPr lang="en-IN" b="1" dirty="0"/>
              <a:t>L2 TO GENERATE THE CANDIATE SET C3 </a:t>
            </a:r>
            <a:r>
              <a:rPr lang="en-IN" dirty="0"/>
              <a:t>AND  SO ON</a:t>
            </a:r>
          </a:p>
        </p:txBody>
      </p:sp>
    </p:spTree>
    <p:extLst>
      <p:ext uri="{BB962C8B-B14F-4D97-AF65-F5344CB8AC3E}">
        <p14:creationId xmlns:p14="http://schemas.microsoft.com/office/powerpoint/2010/main" val="3340883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AECB-C821-AD3B-1A0E-489DC6629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Generate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10607-0901-75EC-E315-217470772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L1 to generate C₂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6164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F05A-9495-0FF0-0C34-6F504EF8D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E65A-6DE5-DD02-0610-442292229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Generate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2D2F7-7972-FE11-B6CF-3EDBCE78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L1​={</a:t>
            </a:r>
            <a:r>
              <a:rPr lang="en-IN" dirty="0" err="1"/>
              <a:t>Milk,Bread,Butter</a:t>
            </a:r>
            <a:r>
              <a:rPr lang="en-IN" dirty="0"/>
              <a:t>}</a:t>
            </a:r>
          </a:p>
          <a:p>
            <a:r>
              <a:rPr lang="en-IN" dirty="0"/>
              <a:t>C2​={{</a:t>
            </a:r>
            <a:r>
              <a:rPr lang="en-IN" dirty="0" err="1"/>
              <a:t>Milk,Bread</a:t>
            </a:r>
            <a:r>
              <a:rPr lang="en-IN" dirty="0"/>
              <a:t>},{</a:t>
            </a:r>
            <a:r>
              <a:rPr lang="en-IN" dirty="0" err="1"/>
              <a:t>Milk,Butter</a:t>
            </a:r>
            <a:r>
              <a:rPr lang="en-IN" dirty="0"/>
              <a:t>},{</a:t>
            </a:r>
            <a:r>
              <a:rPr lang="en-IN" dirty="0" err="1"/>
              <a:t>Bread,Butter</a:t>
            </a:r>
            <a:r>
              <a:rPr lang="en-IN" dirty="0"/>
              <a:t>}}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415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DDD5-DCE1-6966-7B35-765745B0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Calculate Support for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37002-E63D-C080-B7A2-ACBD37D9A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Milk + Bread</a:t>
            </a:r>
          </a:p>
        </p:txBody>
      </p:sp>
    </p:spTree>
    <p:extLst>
      <p:ext uri="{BB962C8B-B14F-4D97-AF65-F5344CB8AC3E}">
        <p14:creationId xmlns:p14="http://schemas.microsoft.com/office/powerpoint/2010/main" val="1552904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484D-B852-D3AD-D6C7-83346406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A4B5-68E8-B6F8-C8A9-956129B8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Calculate Support for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1E514-0FB4-D4A3-8E7D-63DF98C60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Milk + Bread =</a:t>
            </a:r>
            <a:r>
              <a:rPr lang="en-IN" dirty="0">
                <a:highlight>
                  <a:srgbClr val="00FF00"/>
                </a:highlight>
              </a:rPr>
              <a:t>0.6 (KEEP)</a:t>
            </a:r>
          </a:p>
        </p:txBody>
      </p:sp>
    </p:spTree>
    <p:extLst>
      <p:ext uri="{BB962C8B-B14F-4D97-AF65-F5344CB8AC3E}">
        <p14:creationId xmlns:p14="http://schemas.microsoft.com/office/powerpoint/2010/main" val="4049460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F8FA-53A1-C89A-220D-081517473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72DB-2C22-85EA-AC3C-4A022FB1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Calculate Support for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65D0-CF61-9FC9-A2F5-AE68F18A8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Milk + Butter = ??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8258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C1177-ED42-AB26-1B96-0F7EAE31F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5809-B54A-AECD-DD03-B0AE2C13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Calculate Support for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7CF30-BC05-4876-3ABE-CCEDF54FC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Milk + Butter=0.4 </a:t>
            </a:r>
            <a:r>
              <a:rPr lang="en-IN" dirty="0">
                <a:highlight>
                  <a:srgbClr val="00FF00"/>
                </a:highlight>
              </a:rPr>
              <a:t>(KEEP)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55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55C13-2A15-0F0B-709C-D3FE2B23F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3A80-A816-2543-A246-B77F3C7D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Calculate Support for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E4B22-5C11-4563-3C43-8B65DDB70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Bread + Butter=???? </a:t>
            </a:r>
            <a:endParaRPr lang="en-IN" dirty="0">
              <a:highlight>
                <a:srgbClr val="00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6996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96560-EB0F-5DCC-74DC-A6AB68DD9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8993-0429-5F22-EE98-89ED17B6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Calculate Support for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709B-A7B9-8F43-24CA-5FB674428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Bread + Butter= </a:t>
            </a:r>
            <a:r>
              <a:rPr lang="en-IN" dirty="0">
                <a:highlight>
                  <a:srgbClr val="00FF00"/>
                </a:highlight>
              </a:rPr>
              <a:t>0.8 (KEEP)</a:t>
            </a:r>
            <a:r>
              <a:rPr lang="en-IN" dirty="0"/>
              <a:t> </a:t>
            </a:r>
            <a:endParaRPr lang="en-IN" dirty="0">
              <a:highlight>
                <a:srgbClr val="00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143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5BCD-7F47-6685-2F37-2A33EC44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2E2B-61A3-9377-4003-11C93BC75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Calculate Support for C₂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8111D-5D7D-20BA-D8D8-8C45E5C74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00FF00"/>
                </a:highlight>
              </a:rPr>
              <a:t>L2​={{</a:t>
            </a:r>
            <a:r>
              <a:rPr lang="en-IN" dirty="0" err="1">
                <a:highlight>
                  <a:srgbClr val="00FF00"/>
                </a:highlight>
              </a:rPr>
              <a:t>Milk,Bread</a:t>
            </a:r>
            <a:r>
              <a:rPr lang="en-IN" dirty="0">
                <a:highlight>
                  <a:srgbClr val="00FF00"/>
                </a:highlight>
              </a:rPr>
              <a:t>},{</a:t>
            </a:r>
            <a:r>
              <a:rPr lang="en-IN" dirty="0" err="1">
                <a:highlight>
                  <a:srgbClr val="00FF00"/>
                </a:highlight>
              </a:rPr>
              <a:t>Milk,Butter</a:t>
            </a:r>
            <a:r>
              <a:rPr lang="en-IN" dirty="0">
                <a:highlight>
                  <a:srgbClr val="00FF00"/>
                </a:highlight>
              </a:rPr>
              <a:t>},{</a:t>
            </a:r>
            <a:r>
              <a:rPr lang="en-IN" dirty="0" err="1">
                <a:highlight>
                  <a:srgbClr val="00FF00"/>
                </a:highlight>
              </a:rPr>
              <a:t>Bread,Butter</a:t>
            </a:r>
            <a:r>
              <a:rPr lang="en-IN" dirty="0">
                <a:highlight>
                  <a:srgbClr val="00FF00"/>
                </a:highlight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972091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53E7-758D-0974-BF41-7ABDD25FF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462EE-6F3C-508C-D697-E5DEA8F2F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Generate C₃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94AD-1AF8-2077-A010-98A9226DB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Use L2 TO GENERATE C3</a:t>
            </a:r>
          </a:p>
        </p:txBody>
      </p:sp>
    </p:spTree>
    <p:extLst>
      <p:ext uri="{BB962C8B-B14F-4D97-AF65-F5344CB8AC3E}">
        <p14:creationId xmlns:p14="http://schemas.microsoft.com/office/powerpoint/2010/main" val="24558927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29416-27DA-E40F-CF60-3385B4786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F992-8A9D-774D-433E-882CE2E0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Generate C₃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148FA-E653-A8DD-BEA4-288AAD0E8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C3​={{</a:t>
            </a:r>
            <a:r>
              <a:rPr lang="en-IN" dirty="0" err="1"/>
              <a:t>Milk,Bread,Butter</a:t>
            </a:r>
            <a:r>
              <a:rPr lang="en-IN" dirty="0"/>
              <a:t>}}</a:t>
            </a:r>
          </a:p>
          <a:p>
            <a:endParaRPr lang="en-IN" dirty="0"/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77508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8E6A0-BE1F-430E-0D06-C08DCE51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SUPPORT FOR 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BC56-86E2-B5A1-CDD2-9B1E2C911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Support=?</a:t>
            </a:r>
          </a:p>
        </p:txBody>
      </p:sp>
    </p:spTree>
    <p:extLst>
      <p:ext uri="{BB962C8B-B14F-4D97-AF65-F5344CB8AC3E}">
        <p14:creationId xmlns:p14="http://schemas.microsoft.com/office/powerpoint/2010/main" val="38106016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C0A90-69D6-97E3-753A-8F306D0F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3A0DD-CC8B-2507-C45F-3C7AAA03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SUPPORT FOR 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6FA4C-7C48-49C8-EC41-CC93576FE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Support=</a:t>
            </a:r>
            <a:r>
              <a:rPr lang="en-IN" dirty="0">
                <a:highlight>
                  <a:srgbClr val="00FF00"/>
                </a:highlight>
              </a:rPr>
              <a:t>0.4 (Frequent-keep)</a:t>
            </a:r>
          </a:p>
        </p:txBody>
      </p:sp>
    </p:spTree>
    <p:extLst>
      <p:ext uri="{BB962C8B-B14F-4D97-AF65-F5344CB8AC3E}">
        <p14:creationId xmlns:p14="http://schemas.microsoft.com/office/powerpoint/2010/main" val="16610214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C970-4B93-237A-57FF-5DBC7B32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F0820-3BD1-F01B-C309-C5804015E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CALCULATE SUPPORT FOR 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3E91-7208-F131-7B01-68DDD5D4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Support=</a:t>
            </a:r>
            <a:r>
              <a:rPr lang="en-IN" dirty="0">
                <a:highlight>
                  <a:srgbClr val="00FF00"/>
                </a:highlight>
              </a:rPr>
              <a:t>0.4 (Frequent-keep)</a:t>
            </a:r>
          </a:p>
          <a:p>
            <a:endParaRPr lang="en-IN" dirty="0">
              <a:highlight>
                <a:srgbClr val="00FF00"/>
              </a:highlight>
            </a:endParaRPr>
          </a:p>
          <a:p>
            <a:endParaRPr lang="en-IN" dirty="0">
              <a:highlight>
                <a:srgbClr val="00FF00"/>
              </a:highlight>
            </a:endParaRPr>
          </a:p>
          <a:p>
            <a:r>
              <a:rPr lang="en-IN" dirty="0"/>
              <a:t>Thus: L3​={{</a:t>
            </a:r>
            <a:r>
              <a:rPr lang="en-IN" dirty="0" err="1"/>
              <a:t>Milk,Bread,Butter</a:t>
            </a:r>
            <a:r>
              <a:rPr lang="en-IN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300570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4A56-FE8F-980C-B059-3A2E14281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 We Continue?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6DA2-113D-69C0-5276-6B2D0F24E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4399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A05DD-E2BC-E806-0EEB-523E7F76B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9A762-D901-B217-CDCC-DBA32CE05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final frequent </a:t>
            </a:r>
            <a:r>
              <a:rPr lang="en-IN" dirty="0" err="1"/>
              <a:t>itemsets</a:t>
            </a:r>
            <a:r>
              <a:rPr lang="en-IN" dirty="0"/>
              <a:t> are: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FEDD-3680-201E-8160-7B0563BBA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L₁</a:t>
            </a:r>
          </a:p>
          <a:p>
            <a:pPr lvl="1"/>
            <a:r>
              <a:rPr lang="en-IN" dirty="0"/>
              <a:t>{Milk},{Bread},{Butter} </a:t>
            </a:r>
          </a:p>
          <a:p>
            <a:r>
              <a:rPr lang="en-IN" b="1" dirty="0"/>
              <a:t>L₂</a:t>
            </a:r>
          </a:p>
          <a:p>
            <a:pPr lvl="1"/>
            <a:r>
              <a:rPr lang="en-IN" dirty="0"/>
              <a:t>{</a:t>
            </a:r>
            <a:r>
              <a:rPr lang="en-IN" dirty="0" err="1"/>
              <a:t>Milk,Bread</a:t>
            </a:r>
            <a:r>
              <a:rPr lang="en-IN" dirty="0"/>
              <a:t>} {</a:t>
            </a:r>
            <a:r>
              <a:rPr lang="en-IN" dirty="0" err="1"/>
              <a:t>Milk,Butter</a:t>
            </a:r>
            <a:r>
              <a:rPr lang="en-IN" dirty="0"/>
              <a:t>} {</a:t>
            </a:r>
            <a:r>
              <a:rPr lang="en-IN" dirty="0" err="1"/>
              <a:t>Bread,Butter</a:t>
            </a:r>
            <a:r>
              <a:rPr lang="en-IN" dirty="0"/>
              <a:t>} </a:t>
            </a:r>
          </a:p>
          <a:p>
            <a:r>
              <a:rPr lang="en-IN" b="1" dirty="0"/>
              <a:t>L₃</a:t>
            </a:r>
          </a:p>
          <a:p>
            <a:pPr lvl="1"/>
            <a:r>
              <a:rPr lang="en-IN" dirty="0"/>
              <a:t>{</a:t>
            </a:r>
            <a:r>
              <a:rPr lang="en-IN" dirty="0" err="1"/>
              <a:t>Milk,Bread,Butter</a:t>
            </a: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63088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9456-7D87-BB93-09B8-9FE1018F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5226-5D0C-889B-8A1C-B7EC716B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Generate Association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0D76F-282F-F491-65B2-5733EB55F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 rules from :</a:t>
            </a:r>
          </a:p>
          <a:p>
            <a:endParaRPr lang="en-IN" dirty="0"/>
          </a:p>
          <a:p>
            <a:r>
              <a:rPr lang="en-IN" dirty="0"/>
              <a:t>{</a:t>
            </a:r>
            <a:r>
              <a:rPr lang="en-IN" dirty="0" err="1"/>
              <a:t>Milk,Bread,Butter</a:t>
            </a: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38157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4697-80F1-F14A-C207-240621A01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CCFFF-7533-686B-CE12-8FFA48D63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Generate Association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89E58-492E-490D-22E5-C7D09D461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Generate rules from :</a:t>
            </a:r>
          </a:p>
          <a:p>
            <a:endParaRPr lang="en-IN" dirty="0"/>
          </a:p>
          <a:p>
            <a:r>
              <a:rPr lang="en-IN" dirty="0"/>
              <a:t>{</a:t>
            </a:r>
            <a:r>
              <a:rPr lang="en-IN" dirty="0" err="1"/>
              <a:t>Milk,Bread,Butter</a:t>
            </a:r>
            <a:r>
              <a:rPr lang="en-IN" dirty="0"/>
              <a:t>}</a:t>
            </a:r>
          </a:p>
          <a:p>
            <a:pPr lvl="1"/>
            <a:endParaRPr lang="en-IN" dirty="0"/>
          </a:p>
          <a:p>
            <a:pPr lvl="1"/>
            <a:r>
              <a:rPr lang="en-IN" dirty="0" err="1"/>
              <a:t>Milk,Bread→Butter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Milk,Butter→Bread</a:t>
            </a:r>
            <a:endParaRPr lang="en-IN" dirty="0"/>
          </a:p>
          <a:p>
            <a:pPr lvl="1"/>
            <a:r>
              <a:rPr lang="en-IN" dirty="0"/>
              <a:t> </a:t>
            </a:r>
            <a:r>
              <a:rPr lang="en-IN" dirty="0" err="1"/>
              <a:t>Bread,Butter→Milk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1765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86FDB-F0AB-E865-D87B-22F12462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1 — Milk, Bread → Butter – Calculate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776D5-78B3-8184-496D-E5623C9E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Assume </a:t>
            </a:r>
            <a:r>
              <a:rPr lang="en-IN" dirty="0" err="1"/>
              <a:t>Minumum</a:t>
            </a:r>
            <a:r>
              <a:rPr lang="en-IN" dirty="0"/>
              <a:t> confidence = 0.6</a:t>
            </a:r>
          </a:p>
          <a:p>
            <a:r>
              <a:rPr lang="en-IN" b="1" dirty="0"/>
              <a:t>Support(</a:t>
            </a:r>
            <a:r>
              <a:rPr lang="en-IN" b="1" dirty="0" err="1"/>
              <a:t>Milk,Bread,Butter</a:t>
            </a:r>
            <a:r>
              <a:rPr lang="en-IN" b="1" dirty="0"/>
              <a:t>)=?</a:t>
            </a:r>
          </a:p>
        </p:txBody>
      </p:sp>
    </p:spTree>
    <p:extLst>
      <p:ext uri="{BB962C8B-B14F-4D97-AF65-F5344CB8AC3E}">
        <p14:creationId xmlns:p14="http://schemas.microsoft.com/office/powerpoint/2010/main" val="13267473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7310A-9AFE-7A16-8CDF-0995AA99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8DF7-7253-7C22-1931-0C35CFAE6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1 — Milk, Bread → Butter – Calculate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72F7C-486F-BF64-7727-6A6BB928D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Assume Minimum confidence = 0.6</a:t>
            </a:r>
          </a:p>
          <a:p>
            <a:r>
              <a:rPr lang="en-IN" dirty="0">
                <a:highlight>
                  <a:srgbClr val="00FF00"/>
                </a:highlight>
              </a:rPr>
              <a:t>Support(</a:t>
            </a:r>
            <a:r>
              <a:rPr lang="en-IN" dirty="0" err="1">
                <a:highlight>
                  <a:srgbClr val="00FF00"/>
                </a:highlight>
              </a:rPr>
              <a:t>Milk,Bread,Butter</a:t>
            </a:r>
            <a:r>
              <a:rPr lang="en-IN" dirty="0">
                <a:highlight>
                  <a:srgbClr val="00FF00"/>
                </a:highlight>
              </a:rPr>
              <a:t>)=0.4</a:t>
            </a:r>
          </a:p>
          <a:p>
            <a:r>
              <a:rPr lang="en-IN" b="1" dirty="0"/>
              <a:t>Confidence = ??</a:t>
            </a:r>
          </a:p>
        </p:txBody>
      </p:sp>
    </p:spTree>
    <p:extLst>
      <p:ext uri="{BB962C8B-B14F-4D97-AF65-F5344CB8AC3E}">
        <p14:creationId xmlns:p14="http://schemas.microsoft.com/office/powerpoint/2010/main" val="36335285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5BA70-D561-E00A-8FEA-735179158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7478-51AC-EDF3-BA6F-B9325A59F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1 — Milk, Bread → Butter – Calculate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821E-B827-2371-8C0E-61B34FEAD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Assume Minimum confidence = 0.6</a:t>
            </a:r>
          </a:p>
          <a:p>
            <a:r>
              <a:rPr lang="en-IN" dirty="0"/>
              <a:t>Support(</a:t>
            </a:r>
            <a:r>
              <a:rPr lang="en-IN" dirty="0" err="1"/>
              <a:t>Milk,Bread,Butter</a:t>
            </a:r>
            <a:r>
              <a:rPr lang="en-IN" dirty="0"/>
              <a:t>)=0.4</a:t>
            </a:r>
          </a:p>
          <a:p>
            <a:r>
              <a:rPr lang="en-IN" b="1" dirty="0">
                <a:highlight>
                  <a:srgbClr val="00FF00"/>
                </a:highlight>
              </a:rPr>
              <a:t>Confidence = 66.7%</a:t>
            </a:r>
          </a:p>
        </p:txBody>
      </p:sp>
    </p:spTree>
    <p:extLst>
      <p:ext uri="{BB962C8B-B14F-4D97-AF65-F5344CB8AC3E}">
        <p14:creationId xmlns:p14="http://schemas.microsoft.com/office/powerpoint/2010/main" val="18694558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BEE1E-E921-3609-79B7-F8296437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E077-BB9C-712F-08A3-D2C2FD79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1 — Milk, Bread → Butter – Calculate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9841-296B-788B-E30C-BD2606CF3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Assume Minimum confidence = 0.6</a:t>
            </a:r>
          </a:p>
          <a:p>
            <a:r>
              <a:rPr lang="en-IN" dirty="0"/>
              <a:t>Support(</a:t>
            </a:r>
            <a:r>
              <a:rPr lang="en-IN" dirty="0" err="1"/>
              <a:t>Milk,Bread,Butter</a:t>
            </a:r>
            <a:r>
              <a:rPr lang="en-IN" dirty="0"/>
              <a:t>)=0.4</a:t>
            </a:r>
          </a:p>
          <a:p>
            <a:r>
              <a:rPr lang="en-IN" b="1" dirty="0"/>
              <a:t>Confidence = 66.7%</a:t>
            </a:r>
          </a:p>
          <a:p>
            <a:r>
              <a:rPr lang="en-IN" dirty="0">
                <a:highlight>
                  <a:srgbClr val="FFFF00"/>
                </a:highlight>
              </a:rPr>
              <a:t>Strong Rule</a:t>
            </a:r>
          </a:p>
          <a:p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33933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8425-A3F0-DF49-FBEE-822EFB34E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2 — Milk, Butter → Bread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BB58C-9663-03B3-4818-68D397DA6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 or Discard?</a:t>
            </a:r>
          </a:p>
        </p:txBody>
      </p:sp>
    </p:spTree>
    <p:extLst>
      <p:ext uri="{BB962C8B-B14F-4D97-AF65-F5344CB8AC3E}">
        <p14:creationId xmlns:p14="http://schemas.microsoft.com/office/powerpoint/2010/main" val="12742477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992D7-430A-F334-A540-45FACB2B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83C8-85E4-27C6-CC4A-055122AA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Rule 3 — Bread, Butter → Milk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1A3B-07F1-6D58-7B5B-7B3797A6E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 or Discard?</a:t>
            </a:r>
          </a:p>
        </p:txBody>
      </p:sp>
    </p:spTree>
    <p:extLst>
      <p:ext uri="{BB962C8B-B14F-4D97-AF65-F5344CB8AC3E}">
        <p14:creationId xmlns:p14="http://schemas.microsoft.com/office/powerpoint/2010/main" val="14860398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1BC0D-DB77-CCC9-A609-D5FA9B5AE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result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07E5DA-EBC9-F212-C492-29AA4688D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577319"/>
              </p:ext>
            </p:extLst>
          </p:nvPr>
        </p:nvGraphicFramePr>
        <p:xfrm>
          <a:off x="838200" y="1825625"/>
          <a:ext cx="10515600" cy="2806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6196150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781489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751946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3160420"/>
                    </a:ext>
                  </a:extLst>
                </a:gridCol>
              </a:tblGrid>
              <a:tr h="701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7087183"/>
                  </a:ext>
                </a:extLst>
              </a:tr>
              <a:tr h="701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Milk, Bread → Butter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0.667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937065"/>
                  </a:ext>
                </a:extLst>
              </a:tr>
              <a:tr h="701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Milk, Butter → Bread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Strong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006795"/>
                  </a:ext>
                </a:extLst>
              </a:tr>
              <a:tr h="7015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Bread, Butter → Milk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Reject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95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891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1320</Words>
  <Application>Microsoft Office PowerPoint</Application>
  <PresentationFormat>Widescreen</PresentationFormat>
  <Paragraphs>247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Aptos</vt:lpstr>
      <vt:lpstr>Aptos Display</vt:lpstr>
      <vt:lpstr>Arial</vt:lpstr>
      <vt:lpstr>Office Theme</vt:lpstr>
      <vt:lpstr>APRIORI ALGORITHM</vt:lpstr>
      <vt:lpstr>Association Rule Mining</vt:lpstr>
      <vt:lpstr>PowerPoint Presentation</vt:lpstr>
      <vt:lpstr>What is the Apriori Algorithm?</vt:lpstr>
      <vt:lpstr>What is the Apriori Algorithm?</vt:lpstr>
      <vt:lpstr>Why is it called "Apriori"?</vt:lpstr>
      <vt:lpstr>Why is it called "Apriori"?</vt:lpstr>
      <vt:lpstr>Why is it called "Apriori"?</vt:lpstr>
      <vt:lpstr>Why is it called "Apriori"?</vt:lpstr>
      <vt:lpstr>Example</vt:lpstr>
      <vt:lpstr>Example</vt:lpstr>
      <vt:lpstr>Example</vt:lpstr>
      <vt:lpstr>Important Terminology</vt:lpstr>
      <vt:lpstr>Important Terminology</vt:lpstr>
      <vt:lpstr>Important Terminology</vt:lpstr>
      <vt:lpstr>Important Terminology</vt:lpstr>
      <vt:lpstr>Important Terminology</vt:lpstr>
      <vt:lpstr>Candidate Itemset and Frequent Itemset</vt:lpstr>
      <vt:lpstr>Minimum Support</vt:lpstr>
      <vt:lpstr>Decision rule</vt:lpstr>
      <vt:lpstr>COMPLETE APRIORI EXAMPLE</vt:lpstr>
      <vt:lpstr>Step 1 — Identify Unique Items</vt:lpstr>
      <vt:lpstr>Step 1 — Identify Unique Items</vt:lpstr>
      <vt:lpstr>Step 2 — Calculate Support for C₁</vt:lpstr>
      <vt:lpstr>Step 2 — Calculate Support for C₁</vt:lpstr>
      <vt:lpstr>What to keep and remove in Frequent Item-Set(Lk)</vt:lpstr>
      <vt:lpstr>What to keep and remove in Frequent Item-Set(Lk)</vt:lpstr>
      <vt:lpstr>What to keep and remove in Frequent Item-Set(Lk)</vt:lpstr>
      <vt:lpstr>POINT TO REMEMBER</vt:lpstr>
      <vt:lpstr>Generate C₂</vt:lpstr>
      <vt:lpstr>Generate C₂</vt:lpstr>
      <vt:lpstr>Calculate Support for C₂</vt:lpstr>
      <vt:lpstr>Calculate Support for C₂</vt:lpstr>
      <vt:lpstr>Calculate Support for C₂</vt:lpstr>
      <vt:lpstr>Calculate Support for C₂</vt:lpstr>
      <vt:lpstr>Calculate Support for C₂</vt:lpstr>
      <vt:lpstr>Calculate Support for C₂</vt:lpstr>
      <vt:lpstr>Calculate Support for C₂</vt:lpstr>
      <vt:lpstr> Generate C₃</vt:lpstr>
      <vt:lpstr> Generate C₃</vt:lpstr>
      <vt:lpstr>CALCULATE SUPPORT FOR C3</vt:lpstr>
      <vt:lpstr>CALCULATE SUPPORT FOR C3</vt:lpstr>
      <vt:lpstr>CALCULATE SUPPORT FOR C3</vt:lpstr>
      <vt:lpstr>Can We Continue?</vt:lpstr>
      <vt:lpstr>The final frequent itemsets are:</vt:lpstr>
      <vt:lpstr>Generate Association Rules</vt:lpstr>
      <vt:lpstr>Generate Association Rules</vt:lpstr>
      <vt:lpstr>Rule 1 — Milk, Bread → Butter – Calculate Confidence</vt:lpstr>
      <vt:lpstr>Rule 1 — Milk, Bread → Butter – Calculate Confidence</vt:lpstr>
      <vt:lpstr>Rule 1 — Milk, Bread → Butter – Calculate Confidence</vt:lpstr>
      <vt:lpstr>Rule 1 — Milk, Bread → Butter – Calculate Confidence</vt:lpstr>
      <vt:lpstr>Rule 2 — Milk, Butter → Bread</vt:lpstr>
      <vt:lpstr>Rule 3 — Bread, Butter → Milk</vt:lpstr>
      <vt:lpstr>Final 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59</cp:revision>
  <dcterms:created xsi:type="dcterms:W3CDTF">2026-08-17T13:37:44Z</dcterms:created>
  <dcterms:modified xsi:type="dcterms:W3CDTF">2026-08-17T15:12:37Z</dcterms:modified>
</cp:coreProperties>
</file>