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76C5F-2CEC-0C86-DAC0-57E995D63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F21F28-7BCB-F65E-E0DD-678BC8D0D8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27EEA-C38F-D77A-6E47-ACB28E72A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ABD7-94AA-4618-9364-C95467EE1E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37B5D-0CE0-46A0-C0FE-F1AA96879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20D58-F5C4-39BD-566A-662D2DFE5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46EC-7A13-4C80-8B68-A8B24BDDC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267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B986B-2B81-BA0C-BA26-6B6FAD319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797F3-D297-B8C6-DCCD-5A1ADCF62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72D31-E7DC-A247-FC32-C01599C12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ABD7-94AA-4618-9364-C95467EE1E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D3894-7996-53C5-9034-69B58FDE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49C61-5B85-979D-39BD-A98AFB0B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46EC-7A13-4C80-8B68-A8B24BDDC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708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C2306-E853-A4DF-DDAC-AD529BFC8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C2A97-8BF9-89E6-CE96-81785E549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88B62-105B-0767-A693-D55A44682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ABD7-94AA-4618-9364-C95467EE1E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7EE3A-00E5-D5DC-99A5-334E73129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69B85-3CB9-BE64-945A-B92952D7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46EC-7A13-4C80-8B68-A8B24BDDC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77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F7B51-E16C-089B-5424-29E92389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5B971-5C3D-75E2-5BF8-275D75B099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D253B-3F3F-A845-26B9-E1D63F6BE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4D936-EAB9-B965-C0AE-5FB481FE1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ABD7-94AA-4618-9364-C95467EE1E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8DB35-1909-5E09-6F04-127E0B045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5D5B5-3044-5B52-93CD-143EFD397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46EC-7A13-4C80-8B68-A8B24BDDC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039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5516D-0D93-BBC8-613A-D75A6D7F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4EF5C-ADC3-AADC-D77F-4D78BCDD5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C8FEBC-50D1-436E-C35E-5DFCA808C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B865BD-282D-0FB9-9AA4-A75EE90192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FE4EA1-C3D5-1719-7012-14E4FF4B9B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EDB3CB-1F1B-15FE-D703-F15A0BC59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ABD7-94AA-4618-9364-C95467EE1E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82E3E7-4B8E-6906-3297-C9D6B1409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DDE5D5-075D-F6CD-0726-330B2BB3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46EC-7A13-4C80-8B68-A8B24BDDC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033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789AF-3B42-FA0C-A24E-A422DBEA5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BABCEE-F8D4-804B-5054-9773ED6ED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ABD7-94AA-4618-9364-C95467EE1E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F2176D-18B4-7749-92D9-0C51B1704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23781-EFAD-857B-83D8-6ACDE756F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46EC-7A13-4C80-8B68-A8B24BDDC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812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C44145-3FD9-6213-1C81-70DECBA3D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ABD7-94AA-4618-9364-C95467EE1E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185AF5-0CF7-8B0F-4666-358B31D92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4F053-4630-9626-E5B6-4E241A979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46EC-7A13-4C80-8B68-A8B24BDDC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504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BA6A-296D-7C66-9799-B4D5053D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17FD2-0872-EA32-48DA-5387BE214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1CEEB-8C62-EDF5-4F1A-5D4385648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98A0A-C0BC-11B5-730D-3423B381C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ABD7-94AA-4618-9364-C95467EE1E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250ED3-13E1-7349-A92C-5D2BF548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94AB9-D817-E5AE-1204-D4B0FE979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46EC-7A13-4C80-8B68-A8B24BDDC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801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8A5A0-CE9A-2025-04D3-C3A0D600C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A565F1-21EF-94AA-0D59-F40B05DC4C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517FE-4A00-4DA2-A8B9-79EFD3378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6A339-8745-B1B7-01E8-83DD300BA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ABD7-94AA-4618-9364-C95467EE1E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3F651-C84E-27F3-2A62-2F2A3D814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51556-80E1-F359-5B07-B179B743C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46EC-7A13-4C80-8B68-A8B24BDDC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7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6DB60-B006-E663-A4BE-5D6CAA5A4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9E29EB-75FC-F474-05E7-D4EA214B3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033E8-3CB0-09A8-EBBA-9E50A7B93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ABD7-94AA-4618-9364-C95467EE1E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48ECA-DE17-187E-96C1-65B4498B2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B380F-1DF6-D7EC-6178-354264BF0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46EC-7A13-4C80-8B68-A8B24BDDC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483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5348B-76A4-A484-5ED2-269D9C0FE2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71E6C-A115-EECD-F1A0-A64A2A3CA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6DB64-B2EC-9C4C-AF96-50CAD96E4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ABD7-94AA-4618-9364-C95467EE1E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6E385-403C-0648-C54E-61467A1B7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1F4DF-580D-8602-2926-48B33EA82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446EC-7A13-4C80-8B68-A8B24BDDC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858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E64408-3207-7D14-0F6E-6C28983B3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58679-9230-5CD5-0510-AD7E32E79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50208-671E-908A-5AC5-8DE2C1F72B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9ABD7-94AA-4618-9364-C95467EE1E7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A11A0-5B03-3D05-ABF1-E26972D14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51ADB-20F6-F9C0-4273-2F545058B3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446EC-7A13-4C80-8B68-A8B24BDDC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053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21A59-1E1D-7F63-FBE2-7B8AA5C8F9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QUIZ 2 - SOLUTIONS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81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AE4BE-C4A0-EE92-2049-DAEAE3BC9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4616"/>
            <a:ext cx="10515600" cy="5592347"/>
          </a:xfrm>
        </p:spPr>
        <p:txBody>
          <a:bodyPr/>
          <a:lstStyle/>
          <a:p>
            <a:r>
              <a:rPr lang="en-IN" dirty="0"/>
              <a:t>What is a key advantage of NoSQL databases over SQL databases?</a:t>
            </a:r>
          </a:p>
          <a:p>
            <a:pPr lvl="1"/>
            <a:r>
              <a:rPr lang="en-IN" dirty="0"/>
              <a:t>Strict schema</a:t>
            </a:r>
          </a:p>
          <a:p>
            <a:pPr lvl="1"/>
            <a:r>
              <a:rPr lang="en-IN" dirty="0"/>
              <a:t>Horizontal scaling</a:t>
            </a:r>
          </a:p>
          <a:p>
            <a:pPr lvl="1"/>
            <a:r>
              <a:rPr lang="en-IN" dirty="0"/>
              <a:t>Full ACID compliance</a:t>
            </a:r>
          </a:p>
          <a:p>
            <a:pPr lvl="1"/>
            <a:r>
              <a:rPr lang="en-IN" dirty="0"/>
              <a:t>No indexing needed</a:t>
            </a:r>
          </a:p>
        </p:txBody>
      </p:sp>
    </p:spTree>
    <p:extLst>
      <p:ext uri="{BB962C8B-B14F-4D97-AF65-F5344CB8AC3E}">
        <p14:creationId xmlns:p14="http://schemas.microsoft.com/office/powerpoint/2010/main" val="2254402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4D8AF-4EEA-A081-21ED-188F53937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06735-C55D-6291-DDB8-8E447DCD4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4616"/>
            <a:ext cx="10515600" cy="5592347"/>
          </a:xfrm>
        </p:spPr>
        <p:txBody>
          <a:bodyPr/>
          <a:lstStyle/>
          <a:p>
            <a:r>
              <a:rPr lang="en-IN" dirty="0"/>
              <a:t>What is a key advantage of NoSQL databases over SQL databases?</a:t>
            </a:r>
          </a:p>
          <a:p>
            <a:pPr lvl="1"/>
            <a:r>
              <a:rPr lang="en-IN" dirty="0"/>
              <a:t>Strict schema</a:t>
            </a:r>
          </a:p>
          <a:p>
            <a:pPr lvl="1"/>
            <a:r>
              <a:rPr lang="en-IN" b="1" dirty="0">
                <a:highlight>
                  <a:srgbClr val="00FF00"/>
                </a:highlight>
              </a:rPr>
              <a:t>Horizontal scaling</a:t>
            </a:r>
          </a:p>
          <a:p>
            <a:pPr lvl="1"/>
            <a:r>
              <a:rPr lang="en-IN" dirty="0"/>
              <a:t>Full ACID compliance</a:t>
            </a:r>
          </a:p>
          <a:p>
            <a:pPr lvl="1"/>
            <a:r>
              <a:rPr lang="en-IN" dirty="0"/>
              <a:t>No indexing needed</a:t>
            </a:r>
          </a:p>
        </p:txBody>
      </p:sp>
    </p:spTree>
    <p:extLst>
      <p:ext uri="{BB962C8B-B14F-4D97-AF65-F5344CB8AC3E}">
        <p14:creationId xmlns:p14="http://schemas.microsoft.com/office/powerpoint/2010/main" val="1832113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BE5B8-BF94-13D8-CFA3-2D38EBE5D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80E3C-80B0-1BC7-CE60-49DE679D9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4616"/>
            <a:ext cx="10515600" cy="5592347"/>
          </a:xfrm>
        </p:spPr>
        <p:txBody>
          <a:bodyPr/>
          <a:lstStyle/>
          <a:p>
            <a:r>
              <a:rPr lang="en-IN" dirty="0"/>
              <a:t>According to the CAP theorem, a distributed system can only guarantee </a:t>
            </a:r>
            <a:r>
              <a:rPr lang="en-IN" b="1" dirty="0"/>
              <a:t>two</a:t>
            </a:r>
            <a:r>
              <a:rPr lang="en-IN" dirty="0"/>
              <a:t> out of the following three properties at the same time: Consistency, Availability, and __________.</a:t>
            </a:r>
          </a:p>
        </p:txBody>
      </p:sp>
    </p:spTree>
    <p:extLst>
      <p:ext uri="{BB962C8B-B14F-4D97-AF65-F5344CB8AC3E}">
        <p14:creationId xmlns:p14="http://schemas.microsoft.com/office/powerpoint/2010/main" val="1794247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1CEF9-8B62-2858-BE39-A3C4B3BF8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7BC16-744B-377C-7C90-0277F8625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4616"/>
            <a:ext cx="10515600" cy="5592347"/>
          </a:xfrm>
        </p:spPr>
        <p:txBody>
          <a:bodyPr/>
          <a:lstStyle/>
          <a:p>
            <a:r>
              <a:rPr lang="en-IN" dirty="0"/>
              <a:t>According to the CAP theorem, a distributed system can only guarantee </a:t>
            </a:r>
            <a:r>
              <a:rPr lang="en-IN" b="1" dirty="0"/>
              <a:t>two</a:t>
            </a:r>
            <a:r>
              <a:rPr lang="en-IN" dirty="0"/>
              <a:t> out of the following three properties at the same time: Consistency, Availability, and </a:t>
            </a:r>
            <a:r>
              <a:rPr lang="en-IN" b="1" dirty="0">
                <a:highlight>
                  <a:srgbClr val="00FF00"/>
                </a:highlight>
              </a:rPr>
              <a:t>Partition Tolerance</a:t>
            </a:r>
          </a:p>
        </p:txBody>
      </p:sp>
    </p:spTree>
    <p:extLst>
      <p:ext uri="{BB962C8B-B14F-4D97-AF65-F5344CB8AC3E}">
        <p14:creationId xmlns:p14="http://schemas.microsoft.com/office/powerpoint/2010/main" val="4224960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2BDC6-DE6E-9458-BBC2-50FFAAF3F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736540-8F10-963C-80D5-B3418983C7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84616"/>
                <a:ext cx="10515600" cy="5592347"/>
              </a:xfrm>
            </p:spPr>
            <p:txBody>
              <a:bodyPr/>
              <a:lstStyle/>
              <a:p>
                <a:r>
                  <a:rPr lang="en-IN" dirty="0"/>
                  <a:t>The time complexity to insert an element or query membership in a Bloom Filter with </a:t>
                </a:r>
                <a14:m>
                  <m:oMath xmlns:m="http://schemas.openxmlformats.org/officeDocument/2006/math">
                    <m:r>
                      <a:rPr lang="en-IN" i="1"/>
                      <m:t>𝑘</m:t>
                    </m:r>
                  </m:oMath>
                </a14:m>
                <a:r>
                  <a:rPr lang="en-IN" dirty="0"/>
                  <a:t> hash functions is: </a:t>
                </a:r>
                <a:r>
                  <a:rPr lang="en-IN" b="1" dirty="0"/>
                  <a:t>______________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736540-8F10-963C-80D5-B3418983C7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84616"/>
                <a:ext cx="10515600" cy="5592347"/>
              </a:xfrm>
              <a:blipFill>
                <a:blip r:embed="rId2"/>
                <a:stretch>
                  <a:fillRect l="-1043" t="-1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3512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C0F91-31E8-5D19-8248-BBB00703A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AF5C39-49AB-76D6-2C67-F83E0DF46B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84616"/>
                <a:ext cx="10515600" cy="5592347"/>
              </a:xfrm>
            </p:spPr>
            <p:txBody>
              <a:bodyPr/>
              <a:lstStyle/>
              <a:p>
                <a:r>
                  <a:rPr lang="en-IN" dirty="0"/>
                  <a:t>The time complexity to insert an element or query membership in a Bloom Filter with </a:t>
                </a:r>
                <a14:m>
                  <m:oMath xmlns:m="http://schemas.openxmlformats.org/officeDocument/2006/math">
                    <m:r>
                      <a:rPr lang="en-IN" i="1"/>
                      <m:t>𝑘</m:t>
                    </m:r>
                  </m:oMath>
                </a14:m>
                <a:r>
                  <a:rPr lang="en-IN" dirty="0"/>
                  <a:t> hash functions is: </a:t>
                </a:r>
                <a:r>
                  <a:rPr lang="en-IN" b="1" dirty="0">
                    <a:highlight>
                      <a:srgbClr val="00FF00"/>
                    </a:highlight>
                  </a:rPr>
                  <a:t>O(k)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AF5C39-49AB-76D6-2C67-F83E0DF46B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84616"/>
                <a:ext cx="10515600" cy="5592347"/>
              </a:xfrm>
              <a:blipFill>
                <a:blip r:embed="rId2"/>
                <a:stretch>
                  <a:fillRect l="-1043" t="-1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5379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9DE76-175D-9540-3796-DAB19CEEC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7D6CCF-65A1-A5C3-2DD6-CC2458A033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84616"/>
                <a:ext cx="10515600" cy="5592347"/>
              </a:xfrm>
            </p:spPr>
            <p:txBody>
              <a:bodyPr/>
              <a:lstStyle/>
              <a:p>
                <a:r>
                  <a:rPr lang="en-IN" dirty="0"/>
                  <a:t>In the </a:t>
                </a:r>
                <a:r>
                  <a:rPr lang="en-IN" dirty="0" err="1"/>
                  <a:t>Flajolet</a:t>
                </a:r>
                <a:r>
                  <a:rPr lang="en-IN" dirty="0"/>
                  <a:t>–Martin algorithm, the estimated number of distinct elements is given by the formula </a:t>
                </a:r>
                <a:r>
                  <a:rPr lang="en-IN" b="1" dirty="0"/>
                  <a:t>________</a:t>
                </a:r>
                <a:r>
                  <a:rPr lang="en-IN" dirty="0"/>
                  <a:t>, where </a:t>
                </a:r>
                <a14:m>
                  <m:oMath xmlns:m="http://schemas.openxmlformats.org/officeDocument/2006/math">
                    <m:r>
                      <a:rPr lang="en-IN" i="1"/>
                      <m:t>𝑟</m:t>
                    </m:r>
                  </m:oMath>
                </a14:m>
                <a:r>
                  <a:rPr lang="en-IN" dirty="0"/>
                  <a:t> is the maximum count of trailing zeros.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7D6CCF-65A1-A5C3-2DD6-CC2458A033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84616"/>
                <a:ext cx="10515600" cy="5592347"/>
              </a:xfrm>
              <a:blipFill>
                <a:blip r:embed="rId2"/>
                <a:stretch>
                  <a:fillRect l="-1043" t="-1963" r="-1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061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BC0ED-F4BF-44B8-0F51-3BD21C549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D0FBA4-69AA-C57A-C453-B2A80082DC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84616"/>
                <a:ext cx="10515600" cy="5592347"/>
              </a:xfrm>
            </p:spPr>
            <p:txBody>
              <a:bodyPr/>
              <a:lstStyle/>
              <a:p>
                <a:r>
                  <a:rPr lang="en-IN" dirty="0"/>
                  <a:t>In the </a:t>
                </a:r>
                <a:r>
                  <a:rPr lang="en-IN" dirty="0" err="1"/>
                  <a:t>Flajolet</a:t>
                </a:r>
                <a:r>
                  <a:rPr lang="en-IN" dirty="0"/>
                  <a:t>–Martin algorithm, the estimated number of distinct elements is given by the formula </a:t>
                </a:r>
                <a:r>
                  <a:rPr lang="en-IN" b="1" dirty="0"/>
                  <a:t> </a:t>
                </a:r>
                <a:r>
                  <a:rPr lang="en-IN" b="1" dirty="0">
                    <a:highlight>
                      <a:srgbClr val="00FF00"/>
                    </a:highlight>
                  </a:rPr>
                  <a:t>2^r</a:t>
                </a:r>
                <a:r>
                  <a:rPr lang="en-IN" dirty="0"/>
                  <a:t>, where </a:t>
                </a:r>
                <a14:m>
                  <m:oMath xmlns:m="http://schemas.openxmlformats.org/officeDocument/2006/math">
                    <m:r>
                      <a:rPr lang="en-IN" i="1"/>
                      <m:t>𝑟</m:t>
                    </m:r>
                  </m:oMath>
                </a14:m>
                <a:r>
                  <a:rPr lang="en-IN" dirty="0"/>
                  <a:t> is the maximum count of trailing zeros.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D0FBA4-69AA-C57A-C453-B2A80082DC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84616"/>
                <a:ext cx="10515600" cy="5592347"/>
              </a:xfrm>
              <a:blipFill>
                <a:blip r:embed="rId2"/>
                <a:stretch>
                  <a:fillRect l="-1043" t="-1963" r="-1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0189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278D7-852C-AF82-2BC8-F081745A1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0FC1B-22AA-AB3B-0A2F-9C7F5248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4616"/>
            <a:ext cx="10515600" cy="5592347"/>
          </a:xfrm>
        </p:spPr>
        <p:txBody>
          <a:bodyPr/>
          <a:lstStyle/>
          <a:p>
            <a:r>
              <a:rPr lang="en-IN" dirty="0"/>
              <a:t>A distance measure indicates the degree of </a:t>
            </a:r>
            <a:r>
              <a:rPr lang="en-IN" b="1" dirty="0"/>
              <a:t>________</a:t>
            </a:r>
            <a:r>
              <a:rPr lang="en-IN" dirty="0"/>
              <a:t> between two data items.</a:t>
            </a:r>
          </a:p>
        </p:txBody>
      </p:sp>
    </p:spTree>
    <p:extLst>
      <p:ext uri="{BB962C8B-B14F-4D97-AF65-F5344CB8AC3E}">
        <p14:creationId xmlns:p14="http://schemas.microsoft.com/office/powerpoint/2010/main" val="1404154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A8DD4-0147-BCB2-2835-FDD4814EC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0D992-61B3-D421-D959-579E2EDE4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4616"/>
            <a:ext cx="10515600" cy="5592347"/>
          </a:xfrm>
        </p:spPr>
        <p:txBody>
          <a:bodyPr/>
          <a:lstStyle/>
          <a:p>
            <a:r>
              <a:rPr lang="en-IN" dirty="0"/>
              <a:t>A distance measure indicates the degree of </a:t>
            </a:r>
            <a:r>
              <a:rPr lang="en-IN" b="1" dirty="0">
                <a:highlight>
                  <a:srgbClr val="00FF00"/>
                </a:highlight>
              </a:rPr>
              <a:t>Dissimilarity </a:t>
            </a:r>
            <a:r>
              <a:rPr lang="en-IN" dirty="0"/>
              <a:t>between two data items.</a:t>
            </a:r>
          </a:p>
        </p:txBody>
      </p:sp>
    </p:spTree>
    <p:extLst>
      <p:ext uri="{BB962C8B-B14F-4D97-AF65-F5344CB8AC3E}">
        <p14:creationId xmlns:p14="http://schemas.microsoft.com/office/powerpoint/2010/main" val="3776820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73A15-0D03-DBF3-C04A-726938918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EB3FA-2735-5581-4C38-28C014F2F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4616"/>
            <a:ext cx="10515600" cy="5592347"/>
          </a:xfrm>
        </p:spPr>
        <p:txBody>
          <a:bodyPr/>
          <a:lstStyle/>
          <a:p>
            <a:r>
              <a:rPr lang="en-IN" dirty="0"/>
              <a:t>L-Infinity Norm is Calculated as :_______________________________________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783460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FCB07-4F79-EDA5-6EC8-0B5EF9E09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6CE3D-B0BB-7410-F675-20D203105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4616"/>
            <a:ext cx="10515600" cy="5592347"/>
          </a:xfrm>
        </p:spPr>
        <p:txBody>
          <a:bodyPr/>
          <a:lstStyle/>
          <a:p>
            <a:r>
              <a:rPr lang="en-IN" dirty="0"/>
              <a:t>L-Infinity Norm is Calculated as :</a:t>
            </a:r>
            <a:r>
              <a:rPr lang="en-IN" b="1" dirty="0">
                <a:highlight>
                  <a:srgbClr val="00FF00"/>
                </a:highlight>
              </a:rPr>
              <a:t>|</a:t>
            </a:r>
            <a:r>
              <a:rPr lang="en-IN" b="1" dirty="0" err="1">
                <a:highlight>
                  <a:srgbClr val="00FF00"/>
                </a:highlight>
              </a:rPr>
              <a:t>x|_infinity</a:t>
            </a:r>
            <a:r>
              <a:rPr lang="en-IN" b="1" dirty="0">
                <a:highlight>
                  <a:srgbClr val="00FF00"/>
                </a:highlight>
              </a:rPr>
              <a:t> = </a:t>
            </a:r>
            <a:r>
              <a:rPr lang="en-IN" b="1" dirty="0" err="1">
                <a:highlight>
                  <a:srgbClr val="00FF00"/>
                </a:highlight>
              </a:rPr>
              <a:t>max_i</a:t>
            </a:r>
            <a:r>
              <a:rPr lang="en-IN" b="1" dirty="0">
                <a:highlight>
                  <a:srgbClr val="00FF00"/>
                </a:highlight>
              </a:rPr>
              <a:t> |</a:t>
            </a:r>
            <a:r>
              <a:rPr lang="en-IN" b="1" dirty="0" err="1">
                <a:highlight>
                  <a:srgbClr val="00FF00"/>
                </a:highlight>
              </a:rPr>
              <a:t>x_i</a:t>
            </a:r>
            <a:r>
              <a:rPr lang="en-IN" b="1" dirty="0">
                <a:highlight>
                  <a:srgbClr val="00FF00"/>
                </a:highlight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8780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95BF6-C245-459E-0EA3-C2F19252D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9832D5-A7CF-EBA3-53FA-568A4C3F2C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84616"/>
                <a:ext cx="10515600" cy="5592347"/>
              </a:xfrm>
            </p:spPr>
            <p:txBody>
              <a:bodyPr/>
              <a:lstStyle/>
              <a:p>
                <a:r>
                  <a:rPr lang="en-IN" dirty="0"/>
                  <a:t>What is the mathematical relationship used to compute the Jaccard Distance between two sets </a:t>
                </a:r>
                <a14:m>
                  <m:oMath xmlns:m="http://schemas.openxmlformats.org/officeDocument/2006/math">
                    <m:r>
                      <a:rPr lang="en-IN" i="1"/>
                      <m:t>𝑋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IN" i="1"/>
                      <m:t>𝑌</m:t>
                    </m:r>
                  </m:oMath>
                </a14:m>
                <a:r>
                  <a:rPr lang="en-IN" dirty="0"/>
                  <a:t> using their Jaccard Similarity?</a:t>
                </a:r>
              </a:p>
              <a:p>
                <a:r>
                  <a:rPr lang="en-IN" dirty="0"/>
                  <a:t>  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9832D5-A7CF-EBA3-53FA-568A4C3F2C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84616"/>
                <a:ext cx="10515600" cy="5592347"/>
              </a:xfrm>
              <a:blipFill>
                <a:blip r:embed="rId2"/>
                <a:stretch>
                  <a:fillRect l="-1043" t="-1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E54D379-2EFC-1C31-5A3A-38DA0D5C5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361" y="1933731"/>
            <a:ext cx="10379439" cy="346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965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BB4D7-16A2-58E6-110A-1F76166AD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332CE7-8E97-58BE-CCD3-873C2DA422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84616"/>
                <a:ext cx="10515600" cy="5592347"/>
              </a:xfrm>
            </p:spPr>
            <p:txBody>
              <a:bodyPr/>
              <a:lstStyle/>
              <a:p>
                <a:r>
                  <a:rPr lang="en-IN" dirty="0"/>
                  <a:t>What is the mathematical relationship used to compute the Jaccard Distance between two sets </a:t>
                </a:r>
                <a14:m>
                  <m:oMath xmlns:m="http://schemas.openxmlformats.org/officeDocument/2006/math">
                    <m:r>
                      <a:rPr lang="en-IN" i="1"/>
                      <m:t>𝑋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IN" i="1"/>
                      <m:t>𝑌</m:t>
                    </m:r>
                  </m:oMath>
                </a14:m>
                <a:r>
                  <a:rPr lang="en-IN" dirty="0"/>
                  <a:t> using their Jaccard Similarity?</a:t>
                </a:r>
              </a:p>
              <a:p>
                <a:r>
                  <a:rPr lang="en-IN" b="1" dirty="0">
                    <a:highlight>
                      <a:srgbClr val="00FF00"/>
                    </a:highlight>
                  </a:rPr>
                  <a:t>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1">
                        <a:highlight>
                          <a:srgbClr val="00FF00"/>
                        </a:highlight>
                      </a:rPr>
                      <m:t>Jaccard Distance</m:t>
                    </m:r>
                    <m:r>
                      <a:rPr lang="en-IN" b="1" i="1">
                        <a:highlight>
                          <a:srgbClr val="00FF00"/>
                        </a:highlight>
                      </a:rPr>
                      <m:t>=</m:t>
                    </m:r>
                    <m:r>
                      <a:rPr lang="en-IN" b="1" i="1">
                        <a:highlight>
                          <a:srgbClr val="00FF00"/>
                        </a:highlight>
                      </a:rPr>
                      <m:t>𝟏</m:t>
                    </m:r>
                    <m:r>
                      <a:rPr lang="en-IN" b="1" i="1">
                        <a:highlight>
                          <a:srgbClr val="00FF00"/>
                        </a:highlight>
                      </a:rPr>
                      <m:t>−</m:t>
                    </m:r>
                    <m:r>
                      <m:rPr>
                        <m:nor/>
                      </m:rPr>
                      <a:rPr lang="en-IN" b="1">
                        <a:highlight>
                          <a:srgbClr val="00FF00"/>
                        </a:highlight>
                      </a:rPr>
                      <m:t>Jaccard Similarity</m:t>
                    </m:r>
                  </m:oMath>
                </a14:m>
                <a:endParaRPr lang="en-IN" b="1" dirty="0">
                  <a:highlight>
                    <a:srgbClr val="00FF00"/>
                  </a:highlight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332CE7-8E97-58BE-CCD3-873C2DA422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84616"/>
                <a:ext cx="10515600" cy="5592347"/>
              </a:xfrm>
              <a:blipFill>
                <a:blip r:embed="rId2"/>
                <a:stretch>
                  <a:fillRect l="-1043" t="-1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9263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F4B49-B22F-6C93-AE4C-0C3C4A126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83408D-A447-7742-5C27-3FF20E815D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84616"/>
                <a:ext cx="10515600" cy="5592347"/>
              </a:xfrm>
            </p:spPr>
            <p:txBody>
              <a:bodyPr/>
              <a:lstStyle/>
              <a:p>
                <a:r>
                  <a:rPr lang="en-IN" dirty="0"/>
                  <a:t>Consider two sets: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i="1"/>
                      <m:t>𝐴</m:t>
                    </m:r>
                    <m:r>
                      <a:rPr lang="en-IN" i="1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1,2,3,4,5</m:t>
                        </m:r>
                      </m:e>
                    </m:d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r>
                      <a:rPr lang="en-IN" i="1"/>
                      <m:t>𝐵</m:t>
                    </m:r>
                    <m:r>
                      <a:rPr lang="en-IN" i="1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3,4,5,6,7</m:t>
                        </m:r>
                      </m:e>
                    </m:d>
                  </m:oMath>
                </a14:m>
                <a:endParaRPr lang="en-IN" dirty="0"/>
              </a:p>
              <a:p>
                <a:r>
                  <a:rPr lang="en-IN" dirty="0"/>
                  <a:t>Find the </a:t>
                </a:r>
                <a:r>
                  <a:rPr lang="en-IN" b="1" dirty="0"/>
                  <a:t>Jaccard Distance</a:t>
                </a:r>
                <a:r>
                  <a:rPr lang="en-IN" dirty="0"/>
                  <a:t> between sets </a:t>
                </a:r>
                <a14:m>
                  <m:oMath xmlns:m="http://schemas.openxmlformats.org/officeDocument/2006/math">
                    <m:r>
                      <a:rPr lang="en-IN" i="1"/>
                      <m:t>𝐴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IN" i="1"/>
                      <m:t>𝐵</m:t>
                    </m:r>
                  </m:oMath>
                </a14:m>
                <a:r>
                  <a:rPr lang="en-IN" dirty="0"/>
                  <a:t>.</a:t>
                </a:r>
              </a:p>
              <a:p>
                <a:pPr marL="0" indent="0">
                  <a:buNone/>
                </a:pPr>
                <a:r>
                  <a:rPr lang="en-IN" dirty="0"/>
                  <a:t>  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83408D-A447-7742-5C27-3FF20E815D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84616"/>
                <a:ext cx="10515600" cy="5592347"/>
              </a:xfrm>
              <a:blipFill>
                <a:blip r:embed="rId2"/>
                <a:stretch>
                  <a:fillRect l="-1043" t="-1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1535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620D4-CD2E-EB04-0F06-53EC8702F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947C7A-A73C-3ABD-901C-E24D8358C6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84616"/>
                <a:ext cx="10515600" cy="5592347"/>
              </a:xfrm>
            </p:spPr>
            <p:txBody>
              <a:bodyPr/>
              <a:lstStyle/>
              <a:p>
                <a:r>
                  <a:rPr lang="en-IN" dirty="0"/>
                  <a:t>Consider two sets: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i="1"/>
                      <m:t>𝐴</m:t>
                    </m:r>
                    <m:r>
                      <a:rPr lang="en-IN" i="1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1,2,3,4,5</m:t>
                        </m:r>
                      </m:e>
                    </m:d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r>
                      <a:rPr lang="en-IN" i="1"/>
                      <m:t>𝐵</m:t>
                    </m:r>
                    <m:r>
                      <a:rPr lang="en-IN" i="1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3,4,5,6,7</m:t>
                        </m:r>
                      </m:e>
                    </m:d>
                  </m:oMath>
                </a14:m>
                <a:endParaRPr lang="en-IN" dirty="0"/>
              </a:p>
              <a:p>
                <a:r>
                  <a:rPr lang="en-IN" dirty="0"/>
                  <a:t>1 –Jaccard similarity</a:t>
                </a:r>
              </a:p>
              <a:p>
                <a:r>
                  <a:rPr lang="en-IN" dirty="0"/>
                  <a:t>1- A </a:t>
                </a:r>
                <a14:m>
                  <m:oMath xmlns:m="http://schemas.openxmlformats.org/officeDocument/2006/math">
                    <m:r>
                      <a:rPr lang="en-IN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B / |A| + |B| - A </a:t>
                </a:r>
                <a14:m>
                  <m:oMath xmlns:m="http://schemas.openxmlformats.org/officeDocument/2006/math">
                    <m:r>
                      <a:rPr lang="en-IN" dirty="0" smtClean="0"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IN" dirty="0"/>
                  <a:t> B</a:t>
                </a:r>
              </a:p>
              <a:p>
                <a:r>
                  <a:rPr lang="en-IN" dirty="0"/>
                  <a:t>1- 3 / 5 + 5 – 3</a:t>
                </a:r>
              </a:p>
              <a:p>
                <a14:m>
                  <m:oMath xmlns:m="http://schemas.openxmlformats.org/officeDocument/2006/math">
                    <m:r>
                      <a:rPr lang="en-IN" b="1" smtClean="0">
                        <a:highlight>
                          <a:srgbClr val="00FF00"/>
                        </a:highlight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IN" b="1" dirty="0">
                    <a:highlight>
                      <a:srgbClr val="00FF00"/>
                    </a:highlight>
                  </a:rPr>
                  <a:t> 0.58</a:t>
                </a:r>
              </a:p>
              <a:p>
                <a:pPr marL="0" indent="0">
                  <a:buNone/>
                </a:pPr>
                <a:r>
                  <a:rPr lang="en-IN" dirty="0"/>
                  <a:t>  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947C7A-A73C-3ABD-901C-E24D8358C6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84616"/>
                <a:ext cx="10515600" cy="5592347"/>
              </a:xfrm>
              <a:blipFill>
                <a:blip r:embed="rId2"/>
                <a:stretch>
                  <a:fillRect l="-1043" t="-1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587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5D360-8D3C-2ACE-EC00-29E8DADF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C748A-2161-FB54-DA75-0AB783312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4616"/>
            <a:ext cx="10515600" cy="5592347"/>
          </a:xfrm>
        </p:spPr>
        <p:txBody>
          <a:bodyPr/>
          <a:lstStyle/>
          <a:p>
            <a:r>
              <a:rPr lang="en-IN" dirty="0"/>
              <a:t>Find the Hamming Distance between </a:t>
            </a:r>
          </a:p>
          <a:p>
            <a:r>
              <a:rPr lang="en-IN" dirty="0"/>
              <a:t>P1: 1 0 0 1 0 1 0 1</a:t>
            </a:r>
          </a:p>
          <a:p>
            <a:r>
              <a:rPr lang="en-IN" dirty="0"/>
              <a:t>P2:1 0 0 0 1 0 1 0   </a:t>
            </a:r>
          </a:p>
        </p:txBody>
      </p:sp>
    </p:spTree>
    <p:extLst>
      <p:ext uri="{BB962C8B-B14F-4D97-AF65-F5344CB8AC3E}">
        <p14:creationId xmlns:p14="http://schemas.microsoft.com/office/powerpoint/2010/main" val="73412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28B48-F70B-C9B3-EFD7-1C89164E2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6DD23-4E65-A648-97D9-6E065951D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4616"/>
            <a:ext cx="10515600" cy="5592347"/>
          </a:xfrm>
        </p:spPr>
        <p:txBody>
          <a:bodyPr/>
          <a:lstStyle/>
          <a:p>
            <a:r>
              <a:rPr lang="en-IN" dirty="0"/>
              <a:t>Find the Hamming Distance between </a:t>
            </a:r>
          </a:p>
          <a:p>
            <a:r>
              <a:rPr lang="en-IN" dirty="0"/>
              <a:t>P1: 1 0 0 1 0 1 0 1</a:t>
            </a:r>
          </a:p>
          <a:p>
            <a:r>
              <a:rPr lang="en-IN" dirty="0"/>
              <a:t>P2:1 0 0 0 1 0 1 0   </a:t>
            </a:r>
          </a:p>
          <a:p>
            <a:r>
              <a:rPr lang="en-IN" b="1" dirty="0">
                <a:highlight>
                  <a:srgbClr val="00FF00"/>
                </a:highlight>
              </a:rPr>
              <a:t>ANS : 5</a:t>
            </a:r>
          </a:p>
        </p:txBody>
      </p:sp>
    </p:spTree>
    <p:extLst>
      <p:ext uri="{BB962C8B-B14F-4D97-AF65-F5344CB8AC3E}">
        <p14:creationId xmlns:p14="http://schemas.microsoft.com/office/powerpoint/2010/main" val="440205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429</Words>
  <Application>Microsoft Office PowerPoint</Application>
  <PresentationFormat>Widescreen</PresentationFormat>
  <Paragraphs>45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Office Theme</vt:lpstr>
      <vt:lpstr>QUIZ 2 - SOLUTIONS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10</cp:revision>
  <dcterms:created xsi:type="dcterms:W3CDTF">2026-09-28T09:20:46Z</dcterms:created>
  <dcterms:modified xsi:type="dcterms:W3CDTF">2026-09-28T09:34:02Z</dcterms:modified>
</cp:coreProperties>
</file>