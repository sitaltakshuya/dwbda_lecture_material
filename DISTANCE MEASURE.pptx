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6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7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2E0684-631F-4593-B87D-6729120973BB}" type="doc">
      <dgm:prSet loTypeId="urn:microsoft.com/office/officeart/2005/8/layout/vList2" loCatId="list" qsTypeId="urn:microsoft.com/office/officeart/2005/8/quickstyle/simple4#10" qsCatId="simple" csTypeId="urn:microsoft.com/office/officeart/2005/8/colors/colorful2#6" csCatId="colorful"/>
      <dgm:spPr/>
      <dgm:t>
        <a:bodyPr/>
        <a:lstStyle/>
        <a:p>
          <a:endParaRPr lang="en-US"/>
        </a:p>
      </dgm:t>
    </dgm:pt>
    <dgm:pt modelId="{C2310A99-3227-4449-A077-FEF95023A8FF}">
      <dgm:prSet/>
      <dgm:spPr/>
      <dgm:t>
        <a:bodyPr/>
        <a:lstStyle/>
        <a:p>
          <a:r>
            <a:rPr lang="en-IN"/>
            <a:t>Similarity is a measure of how much two data objects are alike.</a:t>
          </a:r>
          <a:endParaRPr lang="en-US"/>
        </a:p>
      </dgm:t>
    </dgm:pt>
    <dgm:pt modelId="{2B1342BB-8F91-46B9-AFF4-4C0E4402DD3B}" type="parTrans" cxnId="{390CA1DD-726F-4610-9463-4085461AA97D}">
      <dgm:prSet/>
      <dgm:spPr/>
      <dgm:t>
        <a:bodyPr/>
        <a:lstStyle/>
        <a:p>
          <a:endParaRPr lang="en-US"/>
        </a:p>
      </dgm:t>
    </dgm:pt>
    <dgm:pt modelId="{823E5438-F43F-4060-83D3-8159B8B46D2D}" type="sibTrans" cxnId="{390CA1DD-726F-4610-9463-4085461AA97D}">
      <dgm:prSet/>
      <dgm:spPr/>
      <dgm:t>
        <a:bodyPr/>
        <a:lstStyle/>
        <a:p>
          <a:endParaRPr lang="en-US"/>
        </a:p>
      </dgm:t>
    </dgm:pt>
    <dgm:pt modelId="{1D56F442-55BF-430D-A3A9-51CA0F40410D}">
      <dgm:prSet/>
      <dgm:spPr/>
      <dgm:t>
        <a:bodyPr/>
        <a:lstStyle/>
        <a:p>
          <a:r>
            <a:rPr lang="en-IN"/>
            <a:t>Distance measure indicates the degree of dissimilarity between two items</a:t>
          </a:r>
          <a:endParaRPr lang="en-US"/>
        </a:p>
      </dgm:t>
    </dgm:pt>
    <dgm:pt modelId="{D73A434C-22E1-4A85-A501-1C98725968E2}" type="parTrans" cxnId="{9DE030FB-86C7-44A4-A4CF-BA1CB53976D3}">
      <dgm:prSet/>
      <dgm:spPr/>
      <dgm:t>
        <a:bodyPr/>
        <a:lstStyle/>
        <a:p>
          <a:endParaRPr lang="en-US"/>
        </a:p>
      </dgm:t>
    </dgm:pt>
    <dgm:pt modelId="{0EB7DE20-76C8-40CE-8967-ABB9C1254536}" type="sibTrans" cxnId="{9DE030FB-86C7-44A4-A4CF-BA1CB53976D3}">
      <dgm:prSet/>
      <dgm:spPr/>
      <dgm:t>
        <a:bodyPr/>
        <a:lstStyle/>
        <a:p>
          <a:endParaRPr lang="en-US"/>
        </a:p>
      </dgm:t>
    </dgm:pt>
    <dgm:pt modelId="{442C244E-EF3C-4F55-B610-09EEAA1B1625}" type="pres">
      <dgm:prSet presAssocID="{682E0684-631F-4593-B87D-6729120973BB}" presName="linear" presStyleCnt="0">
        <dgm:presLayoutVars>
          <dgm:animLvl val="lvl"/>
          <dgm:resizeHandles val="exact"/>
        </dgm:presLayoutVars>
      </dgm:prSet>
      <dgm:spPr/>
    </dgm:pt>
    <dgm:pt modelId="{533BE6AC-997E-4A6D-B50D-D412158BE440}" type="pres">
      <dgm:prSet presAssocID="{C2310A99-3227-4449-A077-FEF95023A8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750EF97-A1A1-4101-8547-E9DD6AE38D3A}" type="pres">
      <dgm:prSet presAssocID="{823E5438-F43F-4060-83D3-8159B8B46D2D}" presName="spacer" presStyleCnt="0"/>
      <dgm:spPr/>
    </dgm:pt>
    <dgm:pt modelId="{BFF1B7FD-A8CA-43E5-8833-D1CC9BA7CB48}" type="pres">
      <dgm:prSet presAssocID="{1D56F442-55BF-430D-A3A9-51CA0F40410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27B271C-8A25-429D-93BD-D7429964E9C8}" type="presOf" srcId="{C2310A99-3227-4449-A077-FEF95023A8FF}" destId="{533BE6AC-997E-4A6D-B50D-D412158BE440}" srcOrd="0" destOrd="0" presId="urn:microsoft.com/office/officeart/2005/8/layout/vList2"/>
    <dgm:cxn modelId="{0CBC9FB1-9C6B-4E08-904D-6EFFBAA25BE8}" type="presOf" srcId="{682E0684-631F-4593-B87D-6729120973BB}" destId="{442C244E-EF3C-4F55-B610-09EEAA1B1625}" srcOrd="0" destOrd="0" presId="urn:microsoft.com/office/officeart/2005/8/layout/vList2"/>
    <dgm:cxn modelId="{390CA1DD-726F-4610-9463-4085461AA97D}" srcId="{682E0684-631F-4593-B87D-6729120973BB}" destId="{C2310A99-3227-4449-A077-FEF95023A8FF}" srcOrd="0" destOrd="0" parTransId="{2B1342BB-8F91-46B9-AFF4-4C0E4402DD3B}" sibTransId="{823E5438-F43F-4060-83D3-8159B8B46D2D}"/>
    <dgm:cxn modelId="{B8ED00DE-F82A-4E4D-BEC9-D408CEAF84D7}" type="presOf" srcId="{1D56F442-55BF-430D-A3A9-51CA0F40410D}" destId="{BFF1B7FD-A8CA-43E5-8833-D1CC9BA7CB48}" srcOrd="0" destOrd="0" presId="urn:microsoft.com/office/officeart/2005/8/layout/vList2"/>
    <dgm:cxn modelId="{9DE030FB-86C7-44A4-A4CF-BA1CB53976D3}" srcId="{682E0684-631F-4593-B87D-6729120973BB}" destId="{1D56F442-55BF-430D-A3A9-51CA0F40410D}" srcOrd="1" destOrd="0" parTransId="{D73A434C-22E1-4A85-A501-1C98725968E2}" sibTransId="{0EB7DE20-76C8-40CE-8967-ABB9C1254536}"/>
    <dgm:cxn modelId="{AF821B8D-7DCC-480E-915D-5227CBA75C56}" type="presParOf" srcId="{442C244E-EF3C-4F55-B610-09EEAA1B1625}" destId="{533BE6AC-997E-4A6D-B50D-D412158BE440}" srcOrd="0" destOrd="0" presId="urn:microsoft.com/office/officeart/2005/8/layout/vList2"/>
    <dgm:cxn modelId="{973943CD-A2CE-4438-8743-0FCA4A414712}" type="presParOf" srcId="{442C244E-EF3C-4F55-B610-09EEAA1B1625}" destId="{3750EF97-A1A1-4101-8547-E9DD6AE38D3A}" srcOrd="1" destOrd="0" presId="urn:microsoft.com/office/officeart/2005/8/layout/vList2"/>
    <dgm:cxn modelId="{A73D396F-9AA1-4DD2-B8F8-A2344E659E2F}" type="presParOf" srcId="{442C244E-EF3C-4F55-B610-09EEAA1B1625}" destId="{BFF1B7FD-A8CA-43E5-8833-D1CC9BA7CB4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46BE8C-068E-44CA-AD94-A5F8011856E5}" type="doc">
      <dgm:prSet loTypeId="urn:microsoft.com/office/officeart/2005/8/layout/vList2" loCatId="list" qsTypeId="urn:microsoft.com/office/officeart/2005/8/quickstyle/simple4#7" qsCatId="simple" csTypeId="urn:microsoft.com/office/officeart/2005/8/colors/colorful5#7" csCatId="colorful" phldr="1"/>
      <dgm:spPr/>
      <dgm:t>
        <a:bodyPr/>
        <a:lstStyle/>
        <a:p>
          <a:endParaRPr lang="en-US"/>
        </a:p>
      </dgm:t>
    </dgm:pt>
    <dgm:pt modelId="{65D43E93-7D98-4154-81B6-6F64E616D06D}">
      <dgm:prSet/>
      <dgm:spPr/>
      <dgm:t>
        <a:bodyPr/>
        <a:lstStyle/>
        <a:p>
          <a:r>
            <a:rPr lang="en-IN" dirty="0"/>
            <a:t>Similarity is a measure of how much two data objects are alike.</a:t>
          </a:r>
          <a:endParaRPr lang="en-US" dirty="0"/>
        </a:p>
      </dgm:t>
    </dgm:pt>
    <dgm:pt modelId="{A2483B0D-09DB-40CA-BDD8-C744403C1139}" type="parTrans" cxnId="{EDB25069-264F-4E74-83B4-F2FD3C969EF7}">
      <dgm:prSet/>
      <dgm:spPr/>
      <dgm:t>
        <a:bodyPr/>
        <a:lstStyle/>
        <a:p>
          <a:endParaRPr lang="en-US"/>
        </a:p>
      </dgm:t>
    </dgm:pt>
    <dgm:pt modelId="{D4055D17-38EF-4427-87B2-3783F731E730}" type="sibTrans" cxnId="{EDB25069-264F-4E74-83B4-F2FD3C969EF7}">
      <dgm:prSet/>
      <dgm:spPr/>
      <dgm:t>
        <a:bodyPr/>
        <a:lstStyle/>
        <a:p>
          <a:endParaRPr lang="en-US"/>
        </a:p>
      </dgm:t>
    </dgm:pt>
    <dgm:pt modelId="{BBFF12C0-A161-4423-88BE-B442F1E67A17}">
      <dgm:prSet/>
      <dgm:spPr/>
      <dgm:t>
        <a:bodyPr/>
        <a:lstStyle/>
        <a:p>
          <a:r>
            <a:rPr lang="en-IN"/>
            <a:t>Distance measure indicates the degree of dissimilarity between two items</a:t>
          </a:r>
          <a:endParaRPr lang="en-US"/>
        </a:p>
      </dgm:t>
    </dgm:pt>
    <dgm:pt modelId="{A9E49891-FAA9-4ED7-A0EF-CDFAD4B13779}" type="parTrans" cxnId="{603AADEB-D004-40A0-A214-39329A14A89C}">
      <dgm:prSet/>
      <dgm:spPr/>
      <dgm:t>
        <a:bodyPr/>
        <a:lstStyle/>
        <a:p>
          <a:endParaRPr lang="en-US"/>
        </a:p>
      </dgm:t>
    </dgm:pt>
    <dgm:pt modelId="{D24343CB-7D75-47F4-AA80-5C6303CE7875}" type="sibTrans" cxnId="{603AADEB-D004-40A0-A214-39329A14A89C}">
      <dgm:prSet/>
      <dgm:spPr/>
      <dgm:t>
        <a:bodyPr/>
        <a:lstStyle/>
        <a:p>
          <a:endParaRPr lang="en-US"/>
        </a:p>
      </dgm:t>
    </dgm:pt>
    <dgm:pt modelId="{56A62141-6DAC-4577-8BE7-9F742ED25020}">
      <dgm:prSet/>
      <dgm:spPr/>
      <dgm:t>
        <a:bodyPr/>
        <a:lstStyle/>
        <a:p>
          <a:r>
            <a:rPr lang="en-IN" b="1"/>
            <a:t>Distance measure is applied to find the similarity </a:t>
          </a:r>
          <a:endParaRPr lang="en-US"/>
        </a:p>
      </dgm:t>
    </dgm:pt>
    <dgm:pt modelId="{33CBE324-5846-4679-9AF6-94FAAD36E8F0}" type="parTrans" cxnId="{2EC40D2F-4224-4415-8C5E-BF129DA6847B}">
      <dgm:prSet/>
      <dgm:spPr/>
      <dgm:t>
        <a:bodyPr/>
        <a:lstStyle/>
        <a:p>
          <a:endParaRPr lang="en-US"/>
        </a:p>
      </dgm:t>
    </dgm:pt>
    <dgm:pt modelId="{E517483D-8AE1-416A-9D85-31C0ED52A6AB}" type="sibTrans" cxnId="{2EC40D2F-4224-4415-8C5E-BF129DA6847B}">
      <dgm:prSet/>
      <dgm:spPr/>
      <dgm:t>
        <a:bodyPr/>
        <a:lstStyle/>
        <a:p>
          <a:endParaRPr lang="en-US"/>
        </a:p>
      </dgm:t>
    </dgm:pt>
    <dgm:pt modelId="{C8C7A637-9408-45C8-BC39-BCE7DC5E2513}" type="pres">
      <dgm:prSet presAssocID="{E046BE8C-068E-44CA-AD94-A5F8011856E5}" presName="linear" presStyleCnt="0">
        <dgm:presLayoutVars>
          <dgm:animLvl val="lvl"/>
          <dgm:resizeHandles val="exact"/>
        </dgm:presLayoutVars>
      </dgm:prSet>
      <dgm:spPr/>
    </dgm:pt>
    <dgm:pt modelId="{F10C196F-F6E0-40DE-8150-291649FF0E23}" type="pres">
      <dgm:prSet presAssocID="{65D43E93-7D98-4154-81B6-6F64E616D06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5FB87B8-372A-49FA-AE55-200AFE19520D}" type="pres">
      <dgm:prSet presAssocID="{D4055D17-38EF-4427-87B2-3783F731E730}" presName="spacer" presStyleCnt="0"/>
      <dgm:spPr/>
    </dgm:pt>
    <dgm:pt modelId="{FF9DF7D3-F8B2-4682-84C3-5464C69E0130}" type="pres">
      <dgm:prSet presAssocID="{BBFF12C0-A161-4423-88BE-B442F1E67A1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04DFDA9-26B5-48D5-9EB1-B2565BD0795D}" type="pres">
      <dgm:prSet presAssocID="{D24343CB-7D75-47F4-AA80-5C6303CE7875}" presName="spacer" presStyleCnt="0"/>
      <dgm:spPr/>
    </dgm:pt>
    <dgm:pt modelId="{4FA9ABFC-36CD-4576-854D-870CB9F00567}" type="pres">
      <dgm:prSet presAssocID="{56A62141-6DAC-4577-8BE7-9F742ED2502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4D06011-EEC5-4783-865E-D7A4F45ECDC9}" type="presOf" srcId="{BBFF12C0-A161-4423-88BE-B442F1E67A17}" destId="{FF9DF7D3-F8B2-4682-84C3-5464C69E0130}" srcOrd="0" destOrd="0" presId="urn:microsoft.com/office/officeart/2005/8/layout/vList2"/>
    <dgm:cxn modelId="{11C7B614-FEF8-4B41-9ED5-7C03253CD83E}" type="presOf" srcId="{65D43E93-7D98-4154-81B6-6F64E616D06D}" destId="{F10C196F-F6E0-40DE-8150-291649FF0E23}" srcOrd="0" destOrd="0" presId="urn:microsoft.com/office/officeart/2005/8/layout/vList2"/>
    <dgm:cxn modelId="{2EC40D2F-4224-4415-8C5E-BF129DA6847B}" srcId="{E046BE8C-068E-44CA-AD94-A5F8011856E5}" destId="{56A62141-6DAC-4577-8BE7-9F742ED25020}" srcOrd="2" destOrd="0" parTransId="{33CBE324-5846-4679-9AF6-94FAAD36E8F0}" sibTransId="{E517483D-8AE1-416A-9D85-31C0ED52A6AB}"/>
    <dgm:cxn modelId="{EDB25069-264F-4E74-83B4-F2FD3C969EF7}" srcId="{E046BE8C-068E-44CA-AD94-A5F8011856E5}" destId="{65D43E93-7D98-4154-81B6-6F64E616D06D}" srcOrd="0" destOrd="0" parTransId="{A2483B0D-09DB-40CA-BDD8-C744403C1139}" sibTransId="{D4055D17-38EF-4427-87B2-3783F731E730}"/>
    <dgm:cxn modelId="{405F1286-08D7-4699-AEFA-71201F075BD0}" type="presOf" srcId="{E046BE8C-068E-44CA-AD94-A5F8011856E5}" destId="{C8C7A637-9408-45C8-BC39-BCE7DC5E2513}" srcOrd="0" destOrd="0" presId="urn:microsoft.com/office/officeart/2005/8/layout/vList2"/>
    <dgm:cxn modelId="{E36873E3-A818-456C-BD3E-615860068299}" type="presOf" srcId="{56A62141-6DAC-4577-8BE7-9F742ED25020}" destId="{4FA9ABFC-36CD-4576-854D-870CB9F00567}" srcOrd="0" destOrd="0" presId="urn:microsoft.com/office/officeart/2005/8/layout/vList2"/>
    <dgm:cxn modelId="{603AADEB-D004-40A0-A214-39329A14A89C}" srcId="{E046BE8C-068E-44CA-AD94-A5F8011856E5}" destId="{BBFF12C0-A161-4423-88BE-B442F1E67A17}" srcOrd="1" destOrd="0" parTransId="{A9E49891-FAA9-4ED7-A0EF-CDFAD4B13779}" sibTransId="{D24343CB-7D75-47F4-AA80-5C6303CE7875}"/>
    <dgm:cxn modelId="{43F00A1D-3926-40B9-8FA9-2AEB03AC8E64}" type="presParOf" srcId="{C8C7A637-9408-45C8-BC39-BCE7DC5E2513}" destId="{F10C196F-F6E0-40DE-8150-291649FF0E23}" srcOrd="0" destOrd="0" presId="urn:microsoft.com/office/officeart/2005/8/layout/vList2"/>
    <dgm:cxn modelId="{102A3D0C-63A8-4CBE-B5C8-D160554A87E0}" type="presParOf" srcId="{C8C7A637-9408-45C8-BC39-BCE7DC5E2513}" destId="{F5FB87B8-372A-49FA-AE55-200AFE19520D}" srcOrd="1" destOrd="0" presId="urn:microsoft.com/office/officeart/2005/8/layout/vList2"/>
    <dgm:cxn modelId="{10C410FE-D248-4369-92DD-29C6A3A9A79C}" type="presParOf" srcId="{C8C7A637-9408-45C8-BC39-BCE7DC5E2513}" destId="{FF9DF7D3-F8B2-4682-84C3-5464C69E0130}" srcOrd="2" destOrd="0" presId="urn:microsoft.com/office/officeart/2005/8/layout/vList2"/>
    <dgm:cxn modelId="{24963059-4D43-4410-BA9C-E526ED8662F5}" type="presParOf" srcId="{C8C7A637-9408-45C8-BC39-BCE7DC5E2513}" destId="{904DFDA9-26B5-48D5-9EB1-B2565BD0795D}" srcOrd="3" destOrd="0" presId="urn:microsoft.com/office/officeart/2005/8/layout/vList2"/>
    <dgm:cxn modelId="{412017BB-21C6-434F-B39A-740CE8F49752}" type="presParOf" srcId="{C8C7A637-9408-45C8-BC39-BCE7DC5E2513}" destId="{4FA9ABFC-36CD-4576-854D-870CB9F0056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BE6AC-997E-4A6D-B50D-D412158BE440}">
      <dsp:nvSpPr>
        <dsp:cNvPr id="0" name=""/>
        <dsp:cNvSpPr/>
      </dsp:nvSpPr>
      <dsp:spPr>
        <a:xfrm>
          <a:off x="0" y="469759"/>
          <a:ext cx="6666833" cy="2199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/>
            <a:t>Similarity is a measure of how much two data objects are alike.</a:t>
          </a:r>
          <a:endParaRPr lang="en-US" sz="4000" kern="1200"/>
        </a:p>
      </dsp:txBody>
      <dsp:txXfrm>
        <a:off x="107376" y="577135"/>
        <a:ext cx="6452081" cy="1984848"/>
      </dsp:txXfrm>
    </dsp:sp>
    <dsp:sp modelId="{BFF1B7FD-A8CA-43E5-8833-D1CC9BA7CB48}">
      <dsp:nvSpPr>
        <dsp:cNvPr id="0" name=""/>
        <dsp:cNvSpPr/>
      </dsp:nvSpPr>
      <dsp:spPr>
        <a:xfrm>
          <a:off x="0" y="2784560"/>
          <a:ext cx="6666833" cy="21996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/>
            <a:t>Distance measure indicates the degree of dissimilarity between two items</a:t>
          </a:r>
          <a:endParaRPr lang="en-US" sz="4000" kern="1200"/>
        </a:p>
      </dsp:txBody>
      <dsp:txXfrm>
        <a:off x="107376" y="2891936"/>
        <a:ext cx="6452081" cy="1984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0C196F-F6E0-40DE-8150-291649FF0E23}">
      <dsp:nvSpPr>
        <dsp:cNvPr id="0" name=""/>
        <dsp:cNvSpPr/>
      </dsp:nvSpPr>
      <dsp:spPr>
        <a:xfrm>
          <a:off x="0" y="36440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Similarity is a measure of how much two data objects are alike.</a:t>
          </a:r>
          <a:endParaRPr lang="en-US" sz="3100" kern="1200" dirty="0"/>
        </a:p>
      </dsp:txBody>
      <dsp:txXfrm>
        <a:off x="84655" y="121095"/>
        <a:ext cx="6497523" cy="1564849"/>
      </dsp:txXfrm>
    </dsp:sp>
    <dsp:sp modelId="{FF9DF7D3-F8B2-4682-84C3-5464C69E0130}">
      <dsp:nvSpPr>
        <dsp:cNvPr id="0" name=""/>
        <dsp:cNvSpPr/>
      </dsp:nvSpPr>
      <dsp:spPr>
        <a:xfrm>
          <a:off x="0" y="1859880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Distance measure indicates the degree of dissimilarity between two items</a:t>
          </a:r>
          <a:endParaRPr lang="en-US" sz="3100" kern="1200"/>
        </a:p>
      </dsp:txBody>
      <dsp:txXfrm>
        <a:off x="84655" y="1944535"/>
        <a:ext cx="6497523" cy="1564849"/>
      </dsp:txXfrm>
    </dsp:sp>
    <dsp:sp modelId="{4FA9ABFC-36CD-4576-854D-870CB9F00567}">
      <dsp:nvSpPr>
        <dsp:cNvPr id="0" name=""/>
        <dsp:cNvSpPr/>
      </dsp:nvSpPr>
      <dsp:spPr>
        <a:xfrm>
          <a:off x="0" y="3683319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1" kern="1200"/>
            <a:t>Distance measure is applied to find the similarity </a:t>
          </a:r>
          <a:endParaRPr lang="en-US" sz="3100" kern="1200"/>
        </a:p>
      </dsp:txBody>
      <dsp:txXfrm>
        <a:off x="84655" y="3767974"/>
        <a:ext cx="6497523" cy="1564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0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B59D-DDE8-9DD4-B074-B97D0BABE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5B255-D106-01C9-0E3E-D5152F72F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91B98-474E-DD82-201B-3216C90E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7D124-E130-98E2-11F9-6B9051DA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C0F1B-1FD2-331E-3CB7-45ACED97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67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C1B44-07B8-62EC-5098-E34F6F4E2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29D4A-961D-6B34-A65D-EDB756FB1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0796F-3496-2CCF-9DC3-38E9A7C4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EB6D8-E28C-E1A1-0140-2AA01647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0764A-B48D-20E6-BEA8-1C722155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71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FB37F-413B-5FDF-790E-F4A4C975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F6693-F002-A2D4-C707-FA45F4270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48E87-A5AC-B556-FD2F-B1A1DC88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A13A4-6E02-032F-4340-7F463073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44D56-9CB1-239D-6D35-F84788BE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359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3840-F530-92E3-D75A-F6E029FF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098AD-288F-2D44-C01E-A81794C39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FFBC9-15B0-74EC-2DF2-A096D0E8B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2302D-BE65-ED3B-3C7B-DD298C1C6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A57C3-0519-9307-E5D1-E0764E15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93BAD-4E63-4668-0CF5-192C6E44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69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BEED1-9E35-5A6C-CEC8-A899C812E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3322B-8981-5BD4-93D2-25061C4B5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4F84A-DD30-8F04-36B3-B42E52B70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57E873-577F-4C21-7573-3CFC737F8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A9FFC-2CB2-43A0-6A46-6A6022320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22340D-B617-38AB-0A40-040B40D58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6AB840-C8A8-BA24-BFCD-5F46610F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7746B6-91C7-BC20-69F2-AA939A9C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493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0BD6-D7BD-E94C-DB13-8B543A286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19BCC5-DD54-BFC8-48F1-2F8014A3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D5B33-B27E-17A3-1307-3D5D9B9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03E5C-06CB-633F-1497-54574606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09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C8ECB-CC21-E280-AEE0-42050E43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474D2A-4189-DF30-E5FB-AB8D725D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6176F-8B35-EA01-50DC-B0C27EA43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70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B0B67-D50A-D0B1-A5CB-01935BCA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DF441-54E8-BA0C-2874-1CF69F232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6019E-0E3C-1961-D651-E98439B62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2D613-B1B4-4260-155A-85F80E04E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C9DAA-6CC4-C51F-8E4A-E27B076A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032BE-684E-03A0-69B5-2295F94B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27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70E41-366B-1494-0F72-36FC7F667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CA1AC-6516-9E19-7217-5EF9383C4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CDB90-6FD1-D55F-24A4-396244188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C3AB2-51A4-7DCA-3695-C7C4D84E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37B3C-7EAE-057B-3D36-CBE9C94F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73DFB-1132-529A-11D3-256FA491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34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FA7F2-67EE-D6BC-511B-F716AD9F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81D57-4D10-3137-D380-00669DD5C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F4E99-5A57-ACA7-E7FD-68B393316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16D8B-688E-1851-D92C-8EB982865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68B6-BE98-6E58-3B48-F6E68829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264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02B327-F756-2EA7-3386-3B777C1CC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5D43E-AFF4-BE0D-3439-2F9BD9D67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57BE4-7DA5-E5EE-BFE2-0CCC60D86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28CD0-18DF-3482-64DA-D31556504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38E9-821F-B7E3-4345-A508048F9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85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D9AE39-0921-03CA-DC5F-9273CFEC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9719C-FA49-05C6-BA5F-51804A26E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23FFA-1774-8C47-14E9-79129365C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DD118-0775-468E-9E2C-5D4A423361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67553-0F65-167D-8825-36589DCC2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58941-9135-4EFC-59BC-A758168F9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7D208-EADB-4DAA-9EAB-F0709129E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858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7C88F-3113-7D2F-6A10-58752A581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IN" sz="5400">
                <a:solidFill>
                  <a:schemeClr val="bg1"/>
                </a:solidFill>
              </a:rPr>
              <a:t>DISTANCE MEASURE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5852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E73A8-51A6-82A3-FA59-546CB8828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IN">
                <a:solidFill>
                  <a:schemeClr val="bg1"/>
                </a:solidFill>
              </a:rPr>
              <a:t>DISTANCE MEASURE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2325-2428-8245-6D15-47DB7A1CA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chemeClr val="bg1"/>
                </a:solidFill>
              </a:rPr>
              <a:t>Similarity is a measure of how much two data objects are alike.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7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09E0D-07B9-3212-66A2-06A6C8FC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B2D82-9C46-EACC-925C-5D8A4D469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DISTANCE MEASURE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BADEFB7-9002-D17B-BB27-B796C3CCE3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699065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17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F6D59-ED61-7209-2E66-028A49B89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0CD8E-C83F-007E-2551-593964C12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DISTANCE MEASURE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0F0032-D5DB-02BC-0057-4B34469C8F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39442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647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4BBC-3FCD-477F-F7DC-474282BDB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9F06-64A0-2FBC-E764-B3BC6895D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DISTANCE MEASURE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BD725-8F75-7AC7-3D68-DF0677B6E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Similarity is a measure of how much two data objects are alike.</a:t>
            </a:r>
          </a:p>
          <a:p>
            <a:r>
              <a:rPr lang="en-IN" dirty="0"/>
              <a:t>Distance measure indicates the degree of dissimilarity between two items</a:t>
            </a:r>
          </a:p>
          <a:p>
            <a:r>
              <a:rPr lang="en-IN" b="1" dirty="0"/>
              <a:t>Distance measure is applied to find the similarity </a:t>
            </a:r>
          </a:p>
          <a:p>
            <a:r>
              <a:rPr lang="en-IN" dirty="0"/>
              <a:t>Small distance -----</a:t>
            </a:r>
            <a:r>
              <a:rPr lang="en-IN" dirty="0">
                <a:sym typeface="Wingdings" panose="05000000000000000000" pitchFamily="2" charset="2"/>
              </a:rPr>
              <a:t> indicates-- High Degree of similarity</a:t>
            </a:r>
          </a:p>
          <a:p>
            <a:r>
              <a:rPr lang="en-IN" dirty="0">
                <a:sym typeface="Wingdings" panose="05000000000000000000" pitchFamily="2" charset="2"/>
              </a:rPr>
              <a:t>Large distance ----- indicates- Small Degree of Similarity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547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6A735-74F3-F68E-C50F-A4723611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Constraints imposed on Distance Measure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9069F-BC2F-00D6-3214-D1233303B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Negativity of Distance : </a:t>
            </a:r>
            <a:r>
              <a:rPr lang="en-IN" dirty="0"/>
              <a:t>The distance between two points cannot be negative.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0715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DA041-1DE5-F2A5-EC31-8E747AAC7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2CC8-8170-3491-FBE0-D16FBA76D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Constraints imposed on Distance Measure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EC9CD-005C-29F4-6A92-88A627A11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Negativity of Distance : </a:t>
            </a:r>
            <a:r>
              <a:rPr lang="en-IN" dirty="0"/>
              <a:t>The distance between two points cannot be negative.</a:t>
            </a:r>
          </a:p>
          <a:p>
            <a:r>
              <a:rPr lang="en-IN" b="1" dirty="0"/>
              <a:t>2. Positivity of Distance :</a:t>
            </a:r>
            <a:r>
              <a:rPr lang="en-IN" dirty="0"/>
              <a:t> The distance between any two point is 0 if they have the same co-ordinates.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5469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C5D75-E197-4BC8-8DA0-917C99B13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AD01-D4D3-123E-F120-28C405EF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Constraints imposed on Distance Measure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33986-B640-E616-2ECC-4F89B19A0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Negativity of Distance : </a:t>
            </a:r>
            <a:r>
              <a:rPr lang="en-IN" dirty="0"/>
              <a:t>The distance between two points cannot be negative.</a:t>
            </a:r>
          </a:p>
          <a:p>
            <a:r>
              <a:rPr lang="en-IN" b="1" dirty="0"/>
              <a:t>2. Positivity of Distance :</a:t>
            </a:r>
            <a:r>
              <a:rPr lang="en-IN" dirty="0"/>
              <a:t> The distance between any two point is 0 if they have the same co-ordinates.</a:t>
            </a:r>
          </a:p>
          <a:p>
            <a:r>
              <a:rPr lang="en-IN" b="1" dirty="0"/>
              <a:t>3. Symmetry of Distance :</a:t>
            </a:r>
            <a:r>
              <a:rPr lang="en-IN" dirty="0"/>
              <a:t> The Distance between X and Y is similar as the distance between Y and X.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5708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A866-F2EB-EE80-47E1-83D9A9A83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C73A-680D-C179-A05B-AD4A2F075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Constraints imposed on Distance Measure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294D9-F6CD-2666-1F55-C2E5C01A0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Negativity of Distance : </a:t>
            </a:r>
            <a:r>
              <a:rPr lang="en-IN" dirty="0"/>
              <a:t>The distance between two points cannot be negative.</a:t>
            </a:r>
          </a:p>
          <a:p>
            <a:r>
              <a:rPr lang="en-IN" b="1" dirty="0"/>
              <a:t>2. Positivity of Distance :</a:t>
            </a:r>
            <a:r>
              <a:rPr lang="en-IN" dirty="0"/>
              <a:t> The distance between any two point is 0 if they have the same co-ordinates.</a:t>
            </a:r>
          </a:p>
          <a:p>
            <a:r>
              <a:rPr lang="en-IN" b="1" dirty="0"/>
              <a:t>3. Symmetry of Distance :</a:t>
            </a:r>
            <a:r>
              <a:rPr lang="en-IN" dirty="0"/>
              <a:t> The Distance between X and Y is similar as the distance between Y and X.</a:t>
            </a:r>
          </a:p>
          <a:p>
            <a:r>
              <a:rPr lang="en-IN" b="1" dirty="0"/>
              <a:t>4.Triangular inequality of Distance :</a:t>
            </a:r>
            <a:r>
              <a:rPr lang="en-IN" dirty="0"/>
              <a:t> It States : </a:t>
            </a:r>
          </a:p>
          <a:p>
            <a:r>
              <a:rPr lang="en-IN" b="1" dirty="0"/>
              <a:t>d(</a:t>
            </a:r>
            <a:r>
              <a:rPr lang="en-IN" b="1" dirty="0" err="1"/>
              <a:t>x,y</a:t>
            </a:r>
            <a:r>
              <a:rPr lang="en-IN" b="1" dirty="0"/>
              <a:t>) &lt;= d(</a:t>
            </a:r>
            <a:r>
              <a:rPr lang="en-IN" b="1" dirty="0" err="1"/>
              <a:t>x,z</a:t>
            </a:r>
            <a:r>
              <a:rPr lang="en-IN" b="1" dirty="0"/>
              <a:t>)+d(</a:t>
            </a:r>
            <a:r>
              <a:rPr lang="en-IN" b="1" dirty="0" err="1"/>
              <a:t>z,y</a:t>
            </a:r>
            <a:r>
              <a:rPr lang="en-IN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8173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F358-89B6-FC47-E07A-151AF745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Euclidean Distance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28EDC-C6EC-C4D8-6FF3-6F6ACF38C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317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727F1-F64A-296D-FC1B-4CDA2C95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L1-NORM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B4CF0-D5F3-205D-E240-0DC530C8F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| X1-X2 | + | Y1 – Y2 | --</a:t>
            </a:r>
            <a:r>
              <a:rPr lang="en-IN" dirty="0">
                <a:sym typeface="Wingdings" panose="05000000000000000000" pitchFamily="2" charset="2"/>
              </a:rPr>
              <a:t> Manhattan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2868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E467-1485-1639-F9B5-832BB708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L2-NORM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D461F8-C020-BBF0-DF3A-97B2E94CD2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𝑑</m:t>
                        </m:r>
                        <m:r>
                          <a:rPr lang="en-IN"/>
                          <m:t>=</m:t>
                        </m:r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N" i="1"/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/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p>
                            <m:r>
                              <a:rPr lang="en-IN"/>
                              <m:t>+</m:t>
                            </m:r>
                            <m:sSup>
                              <m:sSupPr>
                                <m:ctrlPr>
                                  <a:rPr lang="en-IN" i="1"/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/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D461F8-C020-BBF0-DF3A-97B2E94CD2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395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E45E1-D68C-C45F-6C0E-30E09763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L- INFINITY NORM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F98B7-B355-4BD9-B96A-66C95C3D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Max ( | x1 – x2|, |y1-y2|)</a:t>
            </a:r>
          </a:p>
        </p:txBody>
      </p:sp>
    </p:spTree>
    <p:extLst>
      <p:ext uri="{BB962C8B-B14F-4D97-AF65-F5344CB8AC3E}">
        <p14:creationId xmlns:p14="http://schemas.microsoft.com/office/powerpoint/2010/main" val="4107309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3694-C8ED-07D7-43DD-D571E6A5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9639E-ADBF-DECC-B22F-4EC0C4B76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two points (9,7) and (5,10) in 2D Euclidean Space find Euclidean Distance Between Them.</a:t>
            </a:r>
          </a:p>
        </p:txBody>
      </p:sp>
    </p:spTree>
    <p:extLst>
      <p:ext uri="{BB962C8B-B14F-4D97-AF65-F5344CB8AC3E}">
        <p14:creationId xmlns:p14="http://schemas.microsoft.com/office/powerpoint/2010/main" val="1394395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C83A-6BA6-6137-14C4-C6A1BF024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L2- NORM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346FC-5184-7D32-22AC-5DE5676565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=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346FC-5184-7D32-22AC-5DE5676565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492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8BCD3-AF72-B06B-6F57-DC4430C3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6C91-10C7-EA1A-3219-59EA3953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L2- NORM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2D5F83-5A86-AE8C-0C67-267221480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= 5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2D5F83-5A86-AE8C-0C67-267221480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173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45E4-A891-32AC-A73D-A800FEFF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L1 – norm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9AE85-6C33-ED47-E772-3DA08D49D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| X1-X2 | + | Y1 – Y2 | --</a:t>
            </a:r>
            <a:r>
              <a:rPr lang="en-IN" dirty="0">
                <a:sym typeface="Wingdings" panose="05000000000000000000" pitchFamily="2" charset="2"/>
              </a:rPr>
              <a:t> Manhattan distance</a:t>
            </a:r>
            <a:endParaRPr lang="en-IN" dirty="0"/>
          </a:p>
          <a:p>
            <a:r>
              <a:rPr lang="en-IN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4140598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AD79-A1DB-5485-7A27-19DA94E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0C14-5004-BC81-3163-CB8CF6B3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L1 – norm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66AC0-0202-62B3-A4F2-3ACE39635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| X1-X2 | + | Y1 – Y2 | --</a:t>
            </a:r>
            <a:r>
              <a:rPr lang="en-IN" dirty="0">
                <a:sym typeface="Wingdings" panose="05000000000000000000" pitchFamily="2" charset="2"/>
              </a:rPr>
              <a:t> Manhattan distance</a:t>
            </a:r>
            <a:endParaRPr lang="en-IN" dirty="0"/>
          </a:p>
          <a:p>
            <a:r>
              <a:rPr lang="en-IN" dirty="0"/>
              <a:t>= 7</a:t>
            </a:r>
          </a:p>
        </p:txBody>
      </p:sp>
    </p:spTree>
    <p:extLst>
      <p:ext uri="{BB962C8B-B14F-4D97-AF65-F5344CB8AC3E}">
        <p14:creationId xmlns:p14="http://schemas.microsoft.com/office/powerpoint/2010/main" val="177436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9C43D-5F99-C6CE-FED6-52BCBCEB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 – infinity norm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7FBF0-1B33-5AE8-8A22-9F67D212B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Max ( | x1 – x2|, |y1-y2|)</a:t>
            </a:r>
          </a:p>
          <a:p>
            <a:r>
              <a:rPr lang="en-IN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2951098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1E0A6-9D19-DB80-D9B6-1314FAAEB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C77B-DFA1-B431-A1FD-4E067164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 – infinity norm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1B59E-0FE9-4C18-E8F7-8FDBD0C02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Max ( | x1 – x2|, |y1-y2|)</a:t>
            </a:r>
          </a:p>
          <a:p>
            <a:r>
              <a:rPr lang="en-IN" dirty="0"/>
              <a:t>= 4</a:t>
            </a:r>
          </a:p>
        </p:txBody>
      </p:sp>
    </p:spTree>
    <p:extLst>
      <p:ext uri="{BB962C8B-B14F-4D97-AF65-F5344CB8AC3E}">
        <p14:creationId xmlns:p14="http://schemas.microsoft.com/office/powerpoint/2010/main" val="863171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0244-D1B8-BEC4-36F0-10580CBFC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JACCARD DISTANCE</a:t>
            </a:r>
          </a:p>
        </p:txBody>
      </p:sp>
    </p:spTree>
    <p:extLst>
      <p:ext uri="{BB962C8B-B14F-4D97-AF65-F5344CB8AC3E}">
        <p14:creationId xmlns:p14="http://schemas.microsoft.com/office/powerpoint/2010/main" val="2357098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127FE-DDCD-27E0-415E-CDC26D57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JACCARD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D86D2-F709-0CD2-085B-5C10C12DB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used to find the distance between two sets</a:t>
            </a:r>
          </a:p>
        </p:txBody>
      </p:sp>
    </p:spTree>
    <p:extLst>
      <p:ext uri="{BB962C8B-B14F-4D97-AF65-F5344CB8AC3E}">
        <p14:creationId xmlns:p14="http://schemas.microsoft.com/office/powerpoint/2010/main" val="3789769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B4420-A27D-5EFC-DA27-01EFDD60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1A9C1-5315-A788-51DE-0657AA82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JACCARD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73696-37B1-CD97-EAB6-4E98EAB6F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used to find the distance between two sets.</a:t>
            </a:r>
          </a:p>
          <a:p>
            <a:r>
              <a:rPr lang="en-IN" dirty="0"/>
              <a:t>It is defined as : d(</a:t>
            </a:r>
            <a:r>
              <a:rPr lang="en-IN" dirty="0" err="1"/>
              <a:t>x,y</a:t>
            </a:r>
            <a:r>
              <a:rPr lang="en-IN" dirty="0"/>
              <a:t>) = 1- SIM (</a:t>
            </a:r>
            <a:r>
              <a:rPr lang="en-IN" dirty="0" err="1"/>
              <a:t>x,y</a:t>
            </a:r>
            <a:r>
              <a:rPr lang="en-IN" dirty="0"/>
              <a:t>)</a:t>
            </a:r>
          </a:p>
          <a:p>
            <a:r>
              <a:rPr lang="en-IN" dirty="0"/>
              <a:t>SIM (</a:t>
            </a:r>
            <a:r>
              <a:rPr lang="en-IN" dirty="0" err="1"/>
              <a:t>x,y</a:t>
            </a:r>
            <a:r>
              <a:rPr lang="en-IN" dirty="0"/>
              <a:t>) = Jaccard Similarity-</a:t>
            </a:r>
            <a:r>
              <a:rPr lang="en-IN" dirty="0">
                <a:sym typeface="Wingdings" panose="05000000000000000000" pitchFamily="2" charset="2"/>
              </a:rPr>
              <a:t> measures the closeness of two sets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74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E390-66AE-267E-F2FC-A445A3403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21AD8-D98A-893C-9FE7-74F0079CD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two sets A= {1,2,3,4,5} and B= {1,2,4,6,7} Evaluate how similar A and B is and also find the </a:t>
            </a:r>
            <a:r>
              <a:rPr lang="en-IN" dirty="0" err="1"/>
              <a:t>Jacard</a:t>
            </a:r>
            <a:r>
              <a:rPr lang="en-IN" dirty="0"/>
              <a:t> Distance </a:t>
            </a:r>
          </a:p>
        </p:txBody>
      </p:sp>
    </p:spTree>
    <p:extLst>
      <p:ext uri="{BB962C8B-B14F-4D97-AF65-F5344CB8AC3E}">
        <p14:creationId xmlns:p14="http://schemas.microsoft.com/office/powerpoint/2010/main" val="206569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8E4C6-A196-A490-2B08-7F72D57D9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00F1B-2CB2-A1C5-D67E-F508FFB6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688A0B-C0C7-B7AD-154D-DD9CCD553E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Consider two sets A= {1,2,3,4,5} and B= {1,2,4,6,7} Evaluate how similar A and B is and also find the </a:t>
                </a:r>
                <a:r>
                  <a:rPr lang="en-IN" dirty="0" err="1"/>
                  <a:t>Jacard</a:t>
                </a:r>
                <a:r>
                  <a:rPr lang="en-IN" dirty="0"/>
                  <a:t> Distance </a:t>
                </a:r>
              </a:p>
              <a:p>
                <a:r>
                  <a:rPr lang="en-IN" b="1" dirty="0"/>
                  <a:t>Jaccard Similarity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𝐽</m:t>
                    </m:r>
                    <m:d>
                      <m:dPr>
                        <m:sepChr m:val=",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𝐴</m:t>
                        </m:r>
                      </m:e>
                      <m:e>
                        <m:r>
                          <a:rPr lang="en-IN" i="1"/>
                          <m:t>𝐵</m:t>
                        </m:r>
                      </m:e>
                    </m:d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∣</m:t>
                        </m:r>
                        <m:r>
                          <a:rPr lang="en-IN" i="1"/>
                          <m:t>𝐴</m:t>
                        </m:r>
                        <m:r>
                          <a:rPr lang="en-IN"/>
                          <m:t>∩</m:t>
                        </m:r>
                        <m:r>
                          <a:rPr lang="en-IN" i="1"/>
                          <m:t>𝐵</m:t>
                        </m:r>
                        <m:r>
                          <a:rPr lang="en-IN"/>
                          <m:t>∣</m:t>
                        </m:r>
                      </m:num>
                      <m:den>
                        <m:r>
                          <a:rPr lang="en-IN"/>
                          <m:t>∣</m:t>
                        </m:r>
                        <m:r>
                          <a:rPr lang="en-IN" i="1"/>
                          <m:t>𝐴</m:t>
                        </m:r>
                        <m:r>
                          <a:rPr lang="en-IN"/>
                          <m:t>∪</m:t>
                        </m:r>
                        <m:r>
                          <a:rPr lang="en-IN" i="1"/>
                          <m:t>𝐵</m:t>
                        </m:r>
                        <m:r>
                          <a:rPr lang="en-IN"/>
                          <m:t>∣</m:t>
                        </m:r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688A0B-C0C7-B7AD-154D-DD9CCD553E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8461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1CC4-D592-47C2-4AFF-377F4AB4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20B9-7B73-0FEA-9007-9A9B32E0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3C0D7-48FF-1F4A-159B-B8971E1CB8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Consider two sets A= {1,2,3,4,5} and B= {1,2,4,6,7} Evaluate how similar A and B is and also find the </a:t>
                </a:r>
                <a:r>
                  <a:rPr lang="en-IN" dirty="0" err="1"/>
                  <a:t>Jacard</a:t>
                </a:r>
                <a:r>
                  <a:rPr lang="en-IN" dirty="0"/>
                  <a:t> Distance </a:t>
                </a:r>
              </a:p>
              <a:p>
                <a:r>
                  <a:rPr lang="en-IN" b="1" dirty="0"/>
                  <a:t>Jaccard Similarity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𝐽</m:t>
                    </m:r>
                    <m:d>
                      <m:dPr>
                        <m:sepChr m:val=",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𝐴</m:t>
                        </m:r>
                      </m:e>
                      <m:e>
                        <m:r>
                          <a:rPr lang="en-IN" i="1"/>
                          <m:t>𝐵</m:t>
                        </m:r>
                      </m:e>
                    </m:d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∣</m:t>
                        </m:r>
                        <m:r>
                          <a:rPr lang="en-IN" i="1"/>
                          <m:t>𝐴</m:t>
                        </m:r>
                        <m:r>
                          <a:rPr lang="en-IN"/>
                          <m:t>∩</m:t>
                        </m:r>
                        <m:r>
                          <a:rPr lang="en-IN" i="1"/>
                          <m:t>𝐵</m:t>
                        </m:r>
                        <m:r>
                          <a:rPr lang="en-IN"/>
                          <m:t>∣</m:t>
                        </m:r>
                      </m:num>
                      <m:den>
                        <m:r>
                          <a:rPr lang="en-IN"/>
                          <m:t>∣</m:t>
                        </m:r>
                        <m:r>
                          <a:rPr lang="en-IN" i="1"/>
                          <m:t>𝐴</m:t>
                        </m:r>
                        <m:r>
                          <a:rPr lang="en-IN"/>
                          <m:t>∪</m:t>
                        </m:r>
                        <m:r>
                          <a:rPr lang="en-IN" i="1"/>
                          <m:t>𝐵</m:t>
                        </m:r>
                        <m:r>
                          <a:rPr lang="en-IN"/>
                          <m:t>∣</m:t>
                        </m:r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3C0D7-48FF-1F4A-159B-B8971E1CB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674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D3A3E-E4DB-1A27-F108-98ED1D84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802E-1C46-2000-B620-97459B64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75C3E-6792-73FC-313F-64E598BAAA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Consider two sets A= {1,2,3,4,5} and B= {1,2,4,6,7} Evaluate how similar A and B is and also find the </a:t>
                </a:r>
                <a:r>
                  <a:rPr lang="en-IN" dirty="0" err="1"/>
                  <a:t>Jacard</a:t>
                </a:r>
                <a:r>
                  <a:rPr lang="en-IN" dirty="0"/>
                  <a:t> Distance </a:t>
                </a:r>
              </a:p>
              <a:p>
                <a:r>
                  <a:rPr lang="en-IN" b="1" dirty="0"/>
                  <a:t>Jaccard Similarity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𝐽</m:t>
                    </m:r>
                    <m:d>
                      <m:dPr>
                        <m:sepChr m:val=",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𝐴</m:t>
                        </m:r>
                      </m:e>
                      <m:e>
                        <m:r>
                          <a:rPr lang="en-IN" i="1"/>
                          <m:t>𝐵</m:t>
                        </m:r>
                      </m:e>
                    </m:d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∣</m:t>
                        </m:r>
                        <m:r>
                          <a:rPr lang="en-IN" i="1"/>
                          <m:t>𝐴</m:t>
                        </m:r>
                        <m:r>
                          <a:rPr lang="en-IN"/>
                          <m:t>∩</m:t>
                        </m:r>
                        <m:r>
                          <a:rPr lang="en-IN" i="1"/>
                          <m:t>𝐵</m:t>
                        </m:r>
                        <m:r>
                          <a:rPr lang="en-IN"/>
                          <m:t>∣</m:t>
                        </m:r>
                      </m:num>
                      <m:den>
                        <m:r>
                          <a:rPr lang="en-IN"/>
                          <m:t>∣</m:t>
                        </m:r>
                        <m:r>
                          <a:rPr lang="en-IN" i="1"/>
                          <m:t>𝐴</m:t>
                        </m:r>
                        <m:r>
                          <a:rPr lang="en-IN"/>
                          <m:t>∪</m:t>
                        </m:r>
                        <m:r>
                          <a:rPr lang="en-IN" i="1"/>
                          <m:t>𝐵</m:t>
                        </m:r>
                        <m:r>
                          <a:rPr lang="en-IN"/>
                          <m:t>∣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𝐽</m:t>
                    </m:r>
                    <m:d>
                      <m:dPr>
                        <m:sepChr m:val=",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𝐴</m:t>
                        </m:r>
                      </m:e>
                      <m:e>
                        <m:r>
                          <a:rPr lang="en-IN" i="1"/>
                          <m:t>𝐵</m:t>
                        </m:r>
                      </m:e>
                    </m:d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3</m:t>
                        </m:r>
                      </m:num>
                      <m:den>
                        <m:r>
                          <a:rPr lang="en-IN"/>
                          <m:t>7</m:t>
                        </m:r>
                      </m:den>
                    </m:f>
                    <m:r>
                      <a:rPr lang="en-IN"/>
                      <m:t>≈</m:t>
                    </m:r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r>
                          <a:rPr lang="en-IN"/>
                          <m:t>0.4286</m:t>
                        </m:r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75C3E-6792-73FC-313F-64E598BAA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7917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E731D-D991-B8B7-4D55-4C38A601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CD05-77AA-7BEB-4098-ECD70A9E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7E42F9-DD18-ABCF-FD33-7E5E5E755A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Consider two sets A= {1,2,3,4,5} and B= {1,2,4,6,7} Evaluate how similar A and B is and also find the </a:t>
                </a:r>
                <a:r>
                  <a:rPr lang="en-IN" dirty="0" err="1"/>
                  <a:t>Jacard</a:t>
                </a:r>
                <a:r>
                  <a:rPr lang="en-IN" dirty="0"/>
                  <a:t> Distance </a:t>
                </a:r>
              </a:p>
              <a:p>
                <a:r>
                  <a:rPr lang="en-IN" b="1" dirty="0"/>
                  <a:t>Jaccard Similarity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𝐽</m:t>
                    </m:r>
                    <m:d>
                      <m:dPr>
                        <m:sepChr m:val=",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𝐴</m:t>
                        </m:r>
                      </m:e>
                      <m:e>
                        <m:r>
                          <a:rPr lang="en-IN" i="1"/>
                          <m:t>𝐵</m:t>
                        </m:r>
                      </m:e>
                    </m:d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∣</m:t>
                        </m:r>
                        <m:r>
                          <a:rPr lang="en-IN" i="1"/>
                          <m:t>𝐴</m:t>
                        </m:r>
                        <m:r>
                          <a:rPr lang="en-IN"/>
                          <m:t>∩</m:t>
                        </m:r>
                        <m:r>
                          <a:rPr lang="en-IN" i="1"/>
                          <m:t>𝐵</m:t>
                        </m:r>
                        <m:r>
                          <a:rPr lang="en-IN"/>
                          <m:t>∣</m:t>
                        </m:r>
                      </m:num>
                      <m:den>
                        <m:r>
                          <a:rPr lang="en-IN"/>
                          <m:t>∣</m:t>
                        </m:r>
                        <m:r>
                          <a:rPr lang="en-IN" i="1"/>
                          <m:t>𝐴</m:t>
                        </m:r>
                        <m:r>
                          <a:rPr lang="en-IN"/>
                          <m:t>∪</m:t>
                        </m:r>
                        <m:r>
                          <a:rPr lang="en-IN" i="1"/>
                          <m:t>𝐵</m:t>
                        </m:r>
                        <m:r>
                          <a:rPr lang="en-IN"/>
                          <m:t>∣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𝐽</m:t>
                    </m:r>
                    <m:d>
                      <m:dPr>
                        <m:sepChr m:val=",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𝐴</m:t>
                        </m:r>
                      </m:e>
                      <m:e>
                        <m:r>
                          <a:rPr lang="en-IN" i="1"/>
                          <m:t>𝐵</m:t>
                        </m:r>
                      </m:e>
                    </m:d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3</m:t>
                        </m:r>
                      </m:num>
                      <m:den>
                        <m:r>
                          <a:rPr lang="en-IN"/>
                          <m:t>7</m:t>
                        </m:r>
                      </m:den>
                    </m:f>
                    <m:r>
                      <a:rPr lang="en-IN"/>
                      <m:t>≈</m:t>
                    </m:r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r>
                          <a:rPr lang="en-IN"/>
                          <m:t>0.4286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b="1" dirty="0"/>
                  <a:t>Jaccard Distance</a:t>
                </a:r>
              </a:p>
              <a:p>
                <a:r>
                  <a:rPr lang="en-IN" dirty="0"/>
                  <a:t>DJ​(A,B)=1−J(A,B)</a:t>
                </a:r>
                <a:endParaRPr lang="en-IN" b="1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7E42F9-DD18-ABCF-FD33-7E5E5E755A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30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6715C-D175-E045-C078-0FD179E7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0C0FC-8848-F420-A89B-05497DC79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B92914-5ECA-6E34-946D-E3A32F662E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Consider two sets A= {1,2,3,4,5} and B= {1,2,4,6,7} Evaluate how similar A and B is and also find the </a:t>
                </a:r>
                <a:r>
                  <a:rPr lang="en-IN" dirty="0" err="1"/>
                  <a:t>Jacard</a:t>
                </a:r>
                <a:r>
                  <a:rPr lang="en-IN" dirty="0"/>
                  <a:t> Distance </a:t>
                </a:r>
              </a:p>
              <a:p>
                <a:r>
                  <a:rPr lang="en-IN" b="1" dirty="0"/>
                  <a:t>Jaccard Similarity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𝐽</m:t>
                    </m:r>
                    <m:d>
                      <m:dPr>
                        <m:sepChr m:val=",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𝐴</m:t>
                        </m:r>
                      </m:e>
                      <m:e>
                        <m:r>
                          <a:rPr lang="en-IN" i="1"/>
                          <m:t>𝐵</m:t>
                        </m:r>
                      </m:e>
                    </m:d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∣</m:t>
                        </m:r>
                        <m:r>
                          <a:rPr lang="en-IN" i="1"/>
                          <m:t>𝐴</m:t>
                        </m:r>
                        <m:r>
                          <a:rPr lang="en-IN"/>
                          <m:t>∩</m:t>
                        </m:r>
                        <m:r>
                          <a:rPr lang="en-IN" i="1"/>
                          <m:t>𝐵</m:t>
                        </m:r>
                        <m:r>
                          <a:rPr lang="en-IN"/>
                          <m:t>∣</m:t>
                        </m:r>
                      </m:num>
                      <m:den>
                        <m:r>
                          <a:rPr lang="en-IN"/>
                          <m:t>∣</m:t>
                        </m:r>
                        <m:r>
                          <a:rPr lang="en-IN" i="1"/>
                          <m:t>𝐴</m:t>
                        </m:r>
                        <m:r>
                          <a:rPr lang="en-IN"/>
                          <m:t>∪</m:t>
                        </m:r>
                        <m:r>
                          <a:rPr lang="en-IN" i="1"/>
                          <m:t>𝐵</m:t>
                        </m:r>
                        <m:r>
                          <a:rPr lang="en-IN"/>
                          <m:t>∣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𝐽</m:t>
                    </m:r>
                    <m:d>
                      <m:dPr>
                        <m:sepChr m:val=",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𝐴</m:t>
                        </m:r>
                      </m:e>
                      <m:e>
                        <m:r>
                          <a:rPr lang="en-IN" i="1"/>
                          <m:t>𝐵</m:t>
                        </m:r>
                      </m:e>
                    </m:d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3</m:t>
                        </m:r>
                      </m:num>
                      <m:den>
                        <m:r>
                          <a:rPr lang="en-IN"/>
                          <m:t>7</m:t>
                        </m:r>
                      </m:den>
                    </m:f>
                    <m:r>
                      <a:rPr lang="en-IN"/>
                      <m:t>≈</m:t>
                    </m:r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r>
                          <a:rPr lang="en-IN"/>
                          <m:t>0.4286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b="1" dirty="0"/>
                  <a:t>Jaccard Distance</a:t>
                </a:r>
              </a:p>
              <a:p>
                <a:r>
                  <a:rPr lang="en-IN" dirty="0"/>
                  <a:t>DJ​(A,B)=1- J (A,B)</a:t>
                </a:r>
              </a:p>
              <a:p>
                <a:r>
                  <a:rPr lang="en-IN" b="1" dirty="0"/>
                  <a:t>0.5714​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B92914-5ECA-6E34-946D-E3A32F662E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2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471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8805-3219-8D25-45AB-C5BE74A4FC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COSINE DISTANCE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BC4C3-AE8E-944A-2768-CFA69E7165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255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D3AEF-0868-108A-4912-D0E9A0C1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COSINE DISTANCE</a:t>
            </a:r>
          </a:p>
        </p:txBody>
      </p:sp>
      <p:pic>
        <p:nvPicPr>
          <p:cNvPr id="4" name="Content Placeholder 3" descr="Cosine Distance/Similarity Angular Distance is used to calculate the... |  Download Scientific Diagram">
            <a:extLst>
              <a:ext uri="{FF2B5EF4-FFF2-40B4-BE49-F238E27FC236}">
                <a16:creationId xmlns:a16="http://schemas.microsoft.com/office/drawing/2014/main" id="{302FDD29-3D68-F5A7-468F-CC16B70BF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0" y="1851660"/>
            <a:ext cx="5900737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61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78A3-D56E-34FA-8BC5-50143807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COSINE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D0730-E167-DC15-1504-3A1E6B414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the angle between two vector.</a:t>
            </a:r>
          </a:p>
          <a:p>
            <a:r>
              <a:rPr lang="en-IN" dirty="0"/>
              <a:t>Less angle --</a:t>
            </a:r>
            <a:r>
              <a:rPr lang="en-IN" dirty="0">
                <a:sym typeface="Wingdings" panose="05000000000000000000" pitchFamily="2" charset="2"/>
              </a:rPr>
              <a:t> More Similar.</a:t>
            </a:r>
          </a:p>
          <a:p>
            <a:r>
              <a:rPr lang="en-IN" dirty="0">
                <a:sym typeface="Wingdings" panose="05000000000000000000" pitchFamily="2" charset="2"/>
              </a:rPr>
              <a:t>The angle ranges from 0 to 180 </a:t>
            </a:r>
          </a:p>
          <a:p>
            <a:r>
              <a:rPr lang="en-IN" dirty="0">
                <a:sym typeface="Wingdings" panose="05000000000000000000" pitchFamily="2" charset="2"/>
              </a:rPr>
              <a:t>Used in recommendation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5272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5C00-0078-D937-BB9A-A37251193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5ABF2-B8CE-CC7B-85B3-CAC44E2A0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the two vectors in Euclidean Space X= [1,2,-1] and Y= [2,1,1] calculate the cosine distance between x and  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365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4D838-3E9F-8B61-E59F-CDFFB8F6E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C41F-CDFF-6513-A079-B79D263D7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9E237-CC40-7202-643D-A7ECBE142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the two vectors in Euclidean Space X= [1,2,-1] and Y= [2,1,1] calculate the cosine distance between x and  y </a:t>
            </a:r>
          </a:p>
          <a:p>
            <a:endParaRPr lang="en-IN" dirty="0"/>
          </a:p>
          <a:p>
            <a:r>
              <a:rPr lang="en-IN" b="1" dirty="0"/>
              <a:t>STEP 1 : Calculate Dot Product</a:t>
            </a:r>
          </a:p>
          <a:p>
            <a:r>
              <a:rPr lang="en-IN" b="1" dirty="0"/>
              <a:t>X . Y = ??</a:t>
            </a:r>
          </a:p>
        </p:txBody>
      </p:sp>
    </p:spTree>
    <p:extLst>
      <p:ext uri="{BB962C8B-B14F-4D97-AF65-F5344CB8AC3E}">
        <p14:creationId xmlns:p14="http://schemas.microsoft.com/office/powerpoint/2010/main" val="9398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5F47-A20C-E79C-5960-854A2CCC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E4CD-AEDD-1DD4-769B-EAE077531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E412-8889-F503-0116-F0E0D98E8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the two vectors in Euclidean Space X= [1,2,-1] and Y= [2,1,1] calculate the cosine distance between x and  y </a:t>
            </a:r>
          </a:p>
          <a:p>
            <a:endParaRPr lang="en-IN" dirty="0"/>
          </a:p>
          <a:p>
            <a:r>
              <a:rPr lang="en-IN" b="1" dirty="0"/>
              <a:t>STEP 1 : Calculate Dot Product</a:t>
            </a:r>
          </a:p>
          <a:p>
            <a:r>
              <a:rPr lang="en-IN" b="1" dirty="0"/>
              <a:t>X . Y = (1) (2) + (2) (1) + (-1) (1) </a:t>
            </a:r>
          </a:p>
          <a:p>
            <a:r>
              <a:rPr lang="en-IN" b="1" dirty="0"/>
              <a:t>= 3</a:t>
            </a:r>
          </a:p>
        </p:txBody>
      </p:sp>
    </p:spTree>
    <p:extLst>
      <p:ext uri="{BB962C8B-B14F-4D97-AF65-F5344CB8AC3E}">
        <p14:creationId xmlns:p14="http://schemas.microsoft.com/office/powerpoint/2010/main" val="1541334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0C42-5B5D-A217-AF84-6820C6C1E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7C3BF-C321-339E-BBD2-11BD0791A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729D5-069D-3B11-0123-8A14073D4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the two vectors in Euclidean Space X= [1,2,-1] and Y= [2,1,1] calculate the cosine distance between x and  y </a:t>
            </a:r>
          </a:p>
          <a:p>
            <a:endParaRPr lang="en-IN" dirty="0"/>
          </a:p>
          <a:p>
            <a:r>
              <a:rPr lang="en-IN" b="1" dirty="0"/>
              <a:t>STEP 2: Calculate the magnitudes </a:t>
            </a:r>
          </a:p>
          <a:p>
            <a:r>
              <a:rPr lang="en-IN" b="1" dirty="0"/>
              <a:t>|| X || = ??</a:t>
            </a:r>
          </a:p>
          <a:p>
            <a:r>
              <a:rPr lang="en-IN" b="1" dirty="0"/>
              <a:t>|| Y || = ??</a:t>
            </a:r>
          </a:p>
        </p:txBody>
      </p:sp>
    </p:spTree>
    <p:extLst>
      <p:ext uri="{BB962C8B-B14F-4D97-AF65-F5344CB8AC3E}">
        <p14:creationId xmlns:p14="http://schemas.microsoft.com/office/powerpoint/2010/main" val="3475032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A19AA-C9EF-6D4F-DC02-ABF282FF3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D3C1-A777-28C5-AB0F-CF46EB3B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583011-3CEB-8813-23B7-DB079D1294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Consider the two vectors in Euclidean Space X= [1,2,-1] and Y= [2,1,1] calculate the cosine distance between x and  y </a:t>
                </a:r>
              </a:p>
              <a:p>
                <a:endParaRPr lang="en-IN" dirty="0"/>
              </a:p>
              <a:p>
                <a:r>
                  <a:rPr lang="en-IN" b="1" dirty="0"/>
                  <a:t>STEP 2: Calculate the magnitudes 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∥</m:t>
                    </m:r>
                    <m:r>
                      <a:rPr lang="en-IN" i="1"/>
                      <m:t>𝑋</m:t>
                    </m:r>
                    <m:r>
                      <a:rPr lang="en-IN"/>
                      <m:t>∥=</m:t>
                    </m:r>
                    <m:rad>
                      <m:radPr>
                        <m:degHide m:val="on"/>
                        <m:ctrlPr>
                          <a:rPr lang="en-IN" i="1"/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IN"/>
                            </m:ctrlPr>
                          </m:sSupPr>
                          <m:e>
                            <m:r>
                              <a:rPr lang="en-IN"/>
                              <m:t>1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  <m:r>
                          <a:rPr lang="en-IN"/>
                          <m:t>+</m:t>
                        </m:r>
                        <m:sSup>
                          <m:sSupPr>
                            <m:ctrlPr>
                              <a:rPr lang="en-IN"/>
                            </m:ctrlPr>
                          </m:sSupPr>
                          <m:e>
                            <m:r>
                              <a:rPr lang="en-IN"/>
                              <m:t>2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  <m:r>
                          <a:rPr lang="en-IN"/>
                          <m:t>+</m:t>
                        </m:r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a:rPr lang="en-IN"/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e>
                    </m:rad>
                    <m:r>
                      <a:rPr lang="en-IN"/>
                      <m:t>=</m:t>
                    </m:r>
                    <m:rad>
                      <m:radPr>
                        <m:degHide m:val="on"/>
                        <m:ctrlPr>
                          <a:rPr lang="en-IN" i="1"/>
                        </m:ctrlPr>
                      </m:radPr>
                      <m:deg/>
                      <m:e>
                        <m:r>
                          <a:rPr lang="en-IN"/>
                          <m:t>6</m:t>
                        </m:r>
                      </m:e>
                    </m:rad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/>
                      <m:t>∥</m:t>
                    </m:r>
                    <m:r>
                      <a:rPr lang="en-IN" i="1"/>
                      <m:t>𝑌</m:t>
                    </m:r>
                    <m:r>
                      <a:rPr lang="en-IN"/>
                      <m:t>∥=</m:t>
                    </m:r>
                    <m:rad>
                      <m:radPr>
                        <m:degHide m:val="on"/>
                        <m:ctrlPr>
                          <a:rPr lang="en-IN" i="1"/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IN"/>
                            </m:ctrlPr>
                          </m:sSupPr>
                          <m:e>
                            <m:r>
                              <a:rPr lang="en-IN"/>
                              <m:t>2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  <m:r>
                          <a:rPr lang="en-IN"/>
                          <m:t>+</m:t>
                        </m:r>
                        <m:sSup>
                          <m:sSupPr>
                            <m:ctrlPr>
                              <a:rPr lang="en-IN"/>
                            </m:ctrlPr>
                          </m:sSupPr>
                          <m:e>
                            <m:r>
                              <a:rPr lang="en-IN"/>
                              <m:t>1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  <m:r>
                          <a:rPr lang="en-IN"/>
                          <m:t>+</m:t>
                        </m:r>
                        <m:sSup>
                          <m:sSupPr>
                            <m:ctrlPr>
                              <a:rPr lang="en-IN"/>
                            </m:ctrlPr>
                          </m:sSupPr>
                          <m:e>
                            <m:r>
                              <a:rPr lang="en-IN"/>
                              <m:t>1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e>
                    </m:rad>
                    <m:r>
                      <a:rPr lang="en-IN"/>
                      <m:t>=</m:t>
                    </m:r>
                    <m:rad>
                      <m:radPr>
                        <m:degHide m:val="on"/>
                        <m:ctrlPr>
                          <a:rPr lang="en-IN" i="1"/>
                        </m:ctrlPr>
                      </m:radPr>
                      <m:deg/>
                      <m:e>
                        <m:r>
                          <a:rPr lang="en-IN"/>
                          <m:t>6</m:t>
                        </m:r>
                      </m:e>
                    </m:rad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583011-3CEB-8813-23B7-DB079D1294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6947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5D4A-B1F5-DFE6-2145-787587F6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2216-DA55-4B12-91A3-AA1322D7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0D37C0-FDE1-8091-34E6-4315A58215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Consider the two vectors in Euclidean Space X= [1,2,-1] and Y= [2,1,1] calculate the cosine distance between x and  y </a:t>
                </a:r>
              </a:p>
              <a:p>
                <a:endParaRPr lang="en-IN" dirty="0"/>
              </a:p>
              <a:p>
                <a:r>
                  <a:rPr lang="en-IN" b="1" dirty="0"/>
                  <a:t>STEP 3 : Calculate Cosine Similarity 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 i="0"/>
                      <m:t>Cosine Similarity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𝑋</m:t>
                        </m:r>
                        <m:r>
                          <a:rPr lang="en-IN"/>
                          <m:t>⋅</m:t>
                        </m:r>
                        <m:r>
                          <a:rPr lang="en-IN" i="1"/>
                          <m:t>𝑌</m:t>
                        </m:r>
                      </m:num>
                      <m:den>
                        <m:r>
                          <a:rPr lang="en-IN"/>
                          <m:t>∥</m:t>
                        </m:r>
                        <m:r>
                          <a:rPr lang="en-IN" i="1"/>
                          <m:t>𝑋</m:t>
                        </m:r>
                        <m:r>
                          <a:rPr lang="en-IN"/>
                          <m:t>∥∥</m:t>
                        </m:r>
                        <m:r>
                          <a:rPr lang="en-IN" i="1"/>
                          <m:t>𝑌</m:t>
                        </m:r>
                        <m:r>
                          <a:rPr lang="en-IN"/>
                          <m:t>∥</m:t>
                        </m:r>
                      </m:den>
                    </m:f>
                  </m:oMath>
                </a14:m>
                <a:endParaRPr lang="en-IN" b="0" dirty="0"/>
              </a:p>
              <a:p>
                <a:r>
                  <a:rPr lang="en-IN" dirty="0"/>
                  <a:t>= ???</a:t>
                </a:r>
                <a:endParaRPr lang="en-IN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0D37C0-FDE1-8091-34E6-4315A58215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228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615C3-35A0-D781-2B13-DC73350B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55FF8-0F44-5634-5F62-D7AFB944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8FB2CB-C3A6-9AEB-E5FA-7E6A5740EE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Consider the two vectors in Euclidean Space X= [1,2,-1] and Y= [2,1,1] calculate the cosine distance between x and  y </a:t>
                </a:r>
              </a:p>
              <a:p>
                <a:endParaRPr lang="en-IN" dirty="0"/>
              </a:p>
              <a:p>
                <a:r>
                  <a:rPr lang="en-IN" b="1" dirty="0"/>
                  <a:t>STEP 3 : Calculate Cosine Similarity 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 i="0"/>
                      <m:t>Cosine Similarity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𝑋</m:t>
                        </m:r>
                        <m:r>
                          <a:rPr lang="en-IN"/>
                          <m:t>⋅</m:t>
                        </m:r>
                        <m:r>
                          <a:rPr lang="en-IN" i="1"/>
                          <m:t>𝑌</m:t>
                        </m:r>
                      </m:num>
                      <m:den>
                        <m:r>
                          <a:rPr lang="en-IN"/>
                          <m:t>∥</m:t>
                        </m:r>
                        <m:r>
                          <a:rPr lang="en-IN" i="1"/>
                          <m:t>𝑋</m:t>
                        </m:r>
                        <m:r>
                          <a:rPr lang="en-IN"/>
                          <m:t>∥∥</m:t>
                        </m:r>
                        <m:r>
                          <a:rPr lang="en-IN" i="1"/>
                          <m:t>𝑌</m:t>
                        </m:r>
                        <m:r>
                          <a:rPr lang="en-IN"/>
                          <m:t>∥</m:t>
                        </m:r>
                      </m:den>
                    </m:f>
                  </m:oMath>
                </a14:m>
                <a:endParaRPr lang="en-IN" b="0" dirty="0"/>
              </a:p>
              <a:p>
                <a:r>
                  <a:rPr lang="en-IN" dirty="0"/>
                  <a:t>=  0.5</a:t>
                </a:r>
                <a:endParaRPr lang="en-IN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8FB2CB-C3A6-9AEB-E5FA-7E6A5740E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4172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6258A-0027-08C4-F0B1-BC4777685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13FC4-8D94-417B-C601-A3A404CD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3E5DE-0E31-71D7-E307-BE8286102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the two vectors in Euclidean Space X= [1,2,-1] and Y= [2,1,1] calculate the cosine distance between x and  y </a:t>
            </a:r>
          </a:p>
          <a:p>
            <a:endParaRPr lang="en-IN" dirty="0"/>
          </a:p>
          <a:p>
            <a:r>
              <a:rPr lang="en-IN" b="1" dirty="0"/>
              <a:t>STEP 4 : Calculate Cosine Distance</a:t>
            </a:r>
          </a:p>
          <a:p>
            <a:r>
              <a:rPr lang="en-IN" dirty="0"/>
              <a:t>Cosine Distance=1−Cosine Similarity</a:t>
            </a:r>
          </a:p>
          <a:p>
            <a:r>
              <a:rPr lang="en-IN" b="0" dirty="0"/>
              <a:t>=??????</a:t>
            </a:r>
          </a:p>
        </p:txBody>
      </p:sp>
    </p:spTree>
    <p:extLst>
      <p:ext uri="{BB962C8B-B14F-4D97-AF65-F5344CB8AC3E}">
        <p14:creationId xmlns:p14="http://schemas.microsoft.com/office/powerpoint/2010/main" val="6971000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48BEC-0545-E3D2-DCC0-5A9E93532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8C0C-84C8-7F9F-ED44-DA0A67444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26527-3603-12AD-3E50-E08FE439C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the two vectors in Euclidean Space X= [1,2,-1] and Y= [2,1,1] calculate the cosine distance between x and  y </a:t>
            </a:r>
          </a:p>
          <a:p>
            <a:endParaRPr lang="en-IN" dirty="0"/>
          </a:p>
          <a:p>
            <a:r>
              <a:rPr lang="en-IN" b="1" dirty="0"/>
              <a:t>STEP 3 : Calculate Cosine Distance</a:t>
            </a:r>
          </a:p>
          <a:p>
            <a:r>
              <a:rPr lang="en-IN" dirty="0"/>
              <a:t>Cosine Distance=1−Cosine Similarity</a:t>
            </a:r>
          </a:p>
          <a:p>
            <a:r>
              <a:rPr lang="en-IN" b="0" dirty="0"/>
              <a:t>=0.5</a:t>
            </a:r>
          </a:p>
        </p:txBody>
      </p:sp>
    </p:spTree>
    <p:extLst>
      <p:ext uri="{BB962C8B-B14F-4D97-AF65-F5344CB8AC3E}">
        <p14:creationId xmlns:p14="http://schemas.microsoft.com/office/powerpoint/2010/main" val="5691605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55A57-7F4A-4F10-6D48-7438FECB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A2F28-BC1C-965F-DB02-FAC3EEA8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71C04-9B2C-9DE5-2751-EB244B0D0A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dirty="0"/>
                  <a:t>Consider the two vectors in Euclidean Space X= [1,2,-1] and Y= [2,1,1] calculate the cosine distance between x and  y </a:t>
                </a:r>
              </a:p>
              <a:p>
                <a:endParaRPr lang="en-IN" dirty="0"/>
              </a:p>
              <a:p>
                <a:r>
                  <a:rPr lang="en-IN" b="1" dirty="0"/>
                  <a:t>STEP 4 : Calculate Cosine Distance</a:t>
                </a:r>
              </a:p>
              <a:p>
                <a:r>
                  <a:rPr lang="en-IN" dirty="0"/>
                  <a:t>Cosine Distance=1−Cosine Similarity</a:t>
                </a:r>
              </a:p>
              <a:p>
                <a:r>
                  <a:rPr lang="en-IN" b="0" dirty="0"/>
                  <a:t>=0.5</a:t>
                </a:r>
              </a:p>
              <a:p>
                <a:r>
                  <a:rPr lang="en-IN" b="1" dirty="0"/>
                  <a:t>Find Angle : </a:t>
                </a:r>
                <a:r>
                  <a:rPr lang="en-IN" dirty="0"/>
                  <a:t>o find the angle: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𝜃</m:t>
                    </m:r>
                    <m:r>
                      <a:rPr lang="en-IN"/>
                      <m:t>=</m:t>
                    </m:r>
                    <m:sSup>
                      <m:sSupPr>
                        <m:ctrlPr>
                          <a:rPr lang="en-IN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/>
                          <m:t>cos</m:t>
                        </m:r>
                      </m:e>
                      <m:sup>
                        <m:r>
                          <a:rPr lang="en-IN"/>
                          <m:t>−1</m:t>
                        </m:r>
                      </m:sup>
                    </m:sSup>
                    <m:d>
                      <m:dPr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0.5</m:t>
                        </m:r>
                      </m:e>
                    </m:d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𝜃</m:t>
                        </m:r>
                        <m:r>
                          <a:rPr lang="en-IN"/>
                          <m:t>=</m:t>
                        </m:r>
                        <m:sSup>
                          <m:sSupPr>
                            <m:ctrlPr>
                              <a:rPr lang="en-IN"/>
                            </m:ctrlPr>
                          </m:sSupPr>
                          <m:e>
                            <m:r>
                              <a:rPr lang="en-IN"/>
                              <m:t>60</m:t>
                            </m:r>
                          </m:e>
                          <m:sup>
                            <m:r>
                              <a:rPr lang="en-IN"/>
                              <m:t>∘</m:t>
                            </m:r>
                          </m:sup>
                        </m:sSup>
                      </m:e>
                    </m:borderBox>
                  </m:oMath>
                </a14:m>
                <a:endParaRPr lang="en-IN" dirty="0"/>
              </a:p>
              <a:p>
                <a:endParaRPr lang="en-IN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71C04-9B2C-9DE5-2751-EB244B0D0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233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8C3EF-04C5-B019-65C6-C814919B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Answer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D8EDD-C2FA-DBBF-F2F7-9F52594C65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IN" b="1" dirty="0"/>
                  <a:t>Cosine Similarity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/>
                          <m:t>cos</m:t>
                        </m:r>
                      </m:fName>
                      <m:e>
                        <m:r>
                          <a:rPr lang="en-IN" i="1"/>
                          <m:t>𝜃</m:t>
                        </m:r>
                      </m:e>
                    </m:func>
                  </m:oMath>
                </a14:m>
                <a:r>
                  <a:rPr lang="en-IN" b="1" dirty="0"/>
                  <a:t>) = 0.5</a:t>
                </a:r>
                <a:r>
                  <a:rPr lang="en-IN" dirty="0"/>
                  <a:t> </a:t>
                </a:r>
              </a:p>
              <a:p>
                <a:pPr lvl="0"/>
                <a:r>
                  <a:rPr lang="en-IN" b="1" dirty="0"/>
                  <a:t>Angle between vectors (</a:t>
                </a:r>
                <a14:m>
                  <m:oMath xmlns:m="http://schemas.openxmlformats.org/officeDocument/2006/math">
                    <m:r>
                      <a:rPr lang="en-IN" i="1"/>
                      <m:t>𝜃</m:t>
                    </m:r>
                  </m:oMath>
                </a14:m>
                <a:r>
                  <a:rPr lang="en-IN" b="1" dirty="0"/>
                  <a:t>) =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p>
                          <m:sSupPr>
                            <m:ctrlPr>
                              <a:rPr lang="en-IN"/>
                            </m:ctrlPr>
                          </m:sSupPr>
                          <m:e>
                            <m:r>
                              <a:rPr lang="en-IN"/>
                              <m:t>60</m:t>
                            </m:r>
                          </m:e>
                          <m:sup>
                            <m:r>
                              <a:rPr lang="en-IN"/>
                              <m:t>∘</m:t>
                            </m:r>
                          </m:sup>
                        </m:sSup>
                      </m:e>
                    </m:borderBox>
                  </m:oMath>
                </a14:m>
                <a:endParaRPr lang="en-IN" dirty="0"/>
              </a:p>
              <a:p>
                <a:pPr lvl="0"/>
                <a:r>
                  <a:rPr lang="en-IN" b="1" dirty="0"/>
                  <a:t>Cosine Distance = 0.5​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D8EDD-C2FA-DBBF-F2F7-9F52594C65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83317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1D27A-483E-84CD-DB42-95267B97B4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EDIT DISTANCE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9501A-4B01-9B5B-BD84-6EC3823265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26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1293</Words>
  <Application>Microsoft Office PowerPoint</Application>
  <PresentationFormat>Widescreen</PresentationFormat>
  <Paragraphs>167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Aptos Display</vt:lpstr>
      <vt:lpstr>Arial</vt:lpstr>
      <vt:lpstr>Cambria Math</vt:lpstr>
      <vt:lpstr>Wingdings</vt:lpstr>
      <vt:lpstr>Office Theme</vt:lpstr>
      <vt:lpstr>DISTANCE MEASURE</vt:lpstr>
      <vt:lpstr>DISTANCE MEASURE</vt:lpstr>
      <vt:lpstr>DISTANCE MEASURE</vt:lpstr>
      <vt:lpstr>DISTANCE MEASURE</vt:lpstr>
      <vt:lpstr>DISTANCE MEASURE</vt:lpstr>
      <vt:lpstr>Constraints imposed on Distance Measure</vt:lpstr>
      <vt:lpstr>Constraints imposed on Distance Measure</vt:lpstr>
      <vt:lpstr>Constraints imposed on Distance Measure</vt:lpstr>
      <vt:lpstr>Constraints imposed on Distance Measure</vt:lpstr>
      <vt:lpstr>Euclidean Distance </vt:lpstr>
      <vt:lpstr>L1-NORM</vt:lpstr>
      <vt:lpstr>L2-NORM</vt:lpstr>
      <vt:lpstr>L- INFINITY NORM</vt:lpstr>
      <vt:lpstr>Example</vt:lpstr>
      <vt:lpstr>L2- NORM</vt:lpstr>
      <vt:lpstr>L2- NORM</vt:lpstr>
      <vt:lpstr>L1 – norm </vt:lpstr>
      <vt:lpstr>L1 – norm </vt:lpstr>
      <vt:lpstr>L – infinity norm</vt:lpstr>
      <vt:lpstr>L – infinity norm</vt:lpstr>
      <vt:lpstr>JACCARD DISTANCE</vt:lpstr>
      <vt:lpstr>JACCARD DISTANCE</vt:lpstr>
      <vt:lpstr>JACCARD DISTANCE</vt:lpstr>
      <vt:lpstr>Example</vt:lpstr>
      <vt:lpstr>Example</vt:lpstr>
      <vt:lpstr>Example</vt:lpstr>
      <vt:lpstr>Example</vt:lpstr>
      <vt:lpstr>Example</vt:lpstr>
      <vt:lpstr>Example</vt:lpstr>
      <vt:lpstr>COSINE DISTANCE</vt:lpstr>
      <vt:lpstr>COSINE DISTANCE</vt:lpstr>
      <vt:lpstr>COSINE DISTANCE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Final Answer</vt:lpstr>
      <vt:lpstr>EDIT DISTANCE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46</cp:revision>
  <dcterms:created xsi:type="dcterms:W3CDTF">2026-09-07T15:32:17Z</dcterms:created>
  <dcterms:modified xsi:type="dcterms:W3CDTF">2026-09-07T16:29:00Z</dcterms:modified>
</cp:coreProperties>
</file>