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6E8B-1FA5-EBE0-24A9-61B624D78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01872-2572-5AD8-73C2-00EFD4527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46784-AC7D-A65F-C320-0F46081E6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B726D-5AB2-3038-3C09-ABE4D087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01E68-E0AC-71A4-E84D-5124A32E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04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D36A-D1D4-8480-9147-950D2DD81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2DB19-05B9-4CC7-89DA-BE0582D4E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47BE-AB75-FC1A-D94A-A1AFD449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425E9-942D-C349-A60D-EAB78741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51352-0ADE-7DFE-FA8C-CEDC20D9D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892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64AF-DF76-9FF7-10F5-7ACC3688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F2B6C-A6AB-0C6F-C502-92D0DC2AE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FCAD-14C2-8156-194B-4FA784AF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6E743-889E-CCD0-95D3-74A3BF51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018DD-11F9-616F-8693-FED60342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297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E216-B1AE-56A0-3087-9C43C607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19063-85AC-0EEF-016F-EDF9C5EA3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EC1DA-0255-2F29-238E-BD3B73701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F0E39-776B-9111-78EA-2D5AA5BF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242AD-5B7F-6861-CAA0-14C7C64F6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CC05C-C61A-0F34-EA77-92D69D77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318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C288-244D-9AFB-C752-288A3148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3BF7F-A34D-0D46-295E-3D88E678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9DE61-7087-149E-765A-C3BEF9396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20AC4-7A70-2485-657F-E7DC5459F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00B078-2227-FBF9-C9FC-1FE3EF143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8B14D-112F-0A36-1D10-A21BBA53C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A1F77-8D50-F688-343C-7C4DC261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6FF41-560A-FF9B-291A-8FEF7E9A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29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6864-C7C4-2C53-5864-6C1E0718E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21AD1-F40B-ECF8-A69B-0BAC434A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340B7-D4DB-8BC9-02A7-B7851AB3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DA756-0548-F5F5-C0F3-B9FAE88F6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DD44B-8EC3-4E96-887D-19FD5DD13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C7D1AA-7055-C363-6696-ABC18693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14F50-89DB-E396-1483-8F13C8C2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70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A885-41FD-117C-2D8D-2EB0D5BA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35ADA-8FEE-7531-95E7-3EE2FF837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8B996-E619-D4C0-144B-9C625ABE1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BADC0-9098-7702-D7C4-B9C2862A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79190-D38F-423C-03AB-6D299007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8D939-5EF4-0EB0-6DBC-FB1B3938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15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449B-29A4-ED72-E10B-1DB930CDA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5C44E-058D-41A4-E7B6-D4C3FCF85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90D6-2320-B527-47CC-12196B822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4885B-61BD-95ED-4A1C-4EC219B5E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6AFCD-E306-6F7F-D2AB-ACAABD1B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8B31F-43F6-F714-533D-C08D4669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015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0C49-1FB4-C877-4886-6DA25D18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654FA-B557-E8E1-857A-8248AE883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344EC-E733-5520-8639-BD07A6AB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F458B-DEEE-4357-79A4-D39A929D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F7181-73E8-12C2-FBBB-53B77669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9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373E37-8FA3-F2FF-F457-26E9ABD44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4A075-0C15-3D38-0E0A-DC85E2EC2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C272A-85EF-E9C3-210A-AAE318DC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CC021-F2A3-E76A-12D3-0887CF36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5E11E-3CED-6ECB-9577-8F78C2DCD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143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9A95-0F92-31CC-A4E2-67127FDA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C5AFC-D791-2CC9-1092-77904A527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37EFC-70DE-29CF-E460-B5E08AB66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46B25-78AB-4584-9953-2C7BDE9B008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190AF-11CE-E3E6-B2BA-6128813331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622D6-1B35-9BB6-9D32-6812F541D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F9703-BF89-4FB0-8E2F-8F9F31536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15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DC82-0BC7-B38C-643F-A2E2FE80D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MARKET BASKET ANALYSIS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06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5118-6A82-0BF2-9C8E-66674E94E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MBA?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2AF3-60C5-640A-9744-7557C60B4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48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813B1-67C6-1AFE-F848-44FEDC26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4EC73-8525-E3A7-9A8F-319A8ACE9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frequently does this combination occur? OR</a:t>
            </a:r>
          </a:p>
          <a:p>
            <a:r>
              <a:rPr lang="en-IN" dirty="0"/>
              <a:t>How frequently an itemset appear in the dataset</a:t>
            </a:r>
          </a:p>
        </p:txBody>
      </p:sp>
    </p:spTree>
    <p:extLst>
      <p:ext uri="{BB962C8B-B14F-4D97-AF65-F5344CB8AC3E}">
        <p14:creationId xmlns:p14="http://schemas.microsoft.com/office/powerpoint/2010/main" val="1739485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E70B-4322-BF59-4C2A-3A10916E9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0524A-E028-97AE-596D-DAB6AA90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X, how often does Y occur?</a:t>
            </a:r>
          </a:p>
        </p:txBody>
      </p:sp>
    </p:spTree>
    <p:extLst>
      <p:ext uri="{BB962C8B-B14F-4D97-AF65-F5344CB8AC3E}">
        <p14:creationId xmlns:p14="http://schemas.microsoft.com/office/powerpoint/2010/main" val="214241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44F6-8879-81B0-BE6A-BEF7B43B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D35B8-723C-6AD2-4D03-BA135A8B7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37B79-5EE1-9024-7E94-2E3E21760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X, how often does Y occur?</a:t>
            </a:r>
          </a:p>
          <a:p>
            <a:r>
              <a:rPr lang="en-IN" dirty="0"/>
              <a:t>How frequently B is bought when A is bought</a:t>
            </a:r>
          </a:p>
        </p:txBody>
      </p:sp>
    </p:spTree>
    <p:extLst>
      <p:ext uri="{BB962C8B-B14F-4D97-AF65-F5344CB8AC3E}">
        <p14:creationId xmlns:p14="http://schemas.microsoft.com/office/powerpoint/2010/main" val="2504099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1DCC-41DC-49E7-0418-AC7769F47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86DA3-2497-D92B-6E1C-6DA2E54C5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much stronger is the relationship than random chance?</a:t>
            </a:r>
          </a:p>
        </p:txBody>
      </p:sp>
    </p:spTree>
    <p:extLst>
      <p:ext uri="{BB962C8B-B14F-4D97-AF65-F5344CB8AC3E}">
        <p14:creationId xmlns:p14="http://schemas.microsoft.com/office/powerpoint/2010/main" val="1023001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253B2-4F53-DAA2-A21E-C4D74962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BF7C-DF4F-4CE7-07C4-9D4B5E7A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98D8E-866A-6AC6-5482-68588915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much stronger is the relationship than random chance?</a:t>
            </a:r>
          </a:p>
          <a:p>
            <a:r>
              <a:rPr lang="en-IN" dirty="0"/>
              <a:t>How much more likely A and B are together compared if they were bought independently</a:t>
            </a:r>
          </a:p>
        </p:txBody>
      </p:sp>
    </p:spTree>
    <p:extLst>
      <p:ext uri="{BB962C8B-B14F-4D97-AF65-F5344CB8AC3E}">
        <p14:creationId xmlns:p14="http://schemas.microsoft.com/office/powerpoint/2010/main" val="3396597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3505-5733-93A5-7E2C-AA4CDF60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Association Rule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0EE64-CD36-62BC-2615-8B64F70F2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23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AE4E-5CDF-3828-6852-B923FF46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ITEMSET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07B49C-34B5-055D-151C-349E21F45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508198"/>
              </p:ext>
            </p:extLst>
          </p:nvPr>
        </p:nvGraphicFramePr>
        <p:xfrm>
          <a:off x="838200" y="1874837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792400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072616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Transaction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Items Purchased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31902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Bread,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28659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Bread, Butter,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05399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943213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Milk,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38079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Bread, Butter,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126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456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3B92-3A3B-C96B-B2BC-CE2B9C52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Item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513B-8531-E45D-2113-2945FF9E0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{Bread} → 1-itemset </a:t>
            </a:r>
          </a:p>
          <a:p>
            <a:pPr lvl="0"/>
            <a:r>
              <a:rPr lang="en-IN" dirty="0"/>
              <a:t>{Bread, Milk} → 2-itemset </a:t>
            </a:r>
          </a:p>
          <a:p>
            <a:pPr lvl="0"/>
            <a:r>
              <a:rPr lang="en-IN" dirty="0"/>
              <a:t>{Bread, Butter, Milk} → 3-itemset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690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4102-21EE-E238-F2D6-E77025303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8834E-1D8C-3E11-B805-4952C20ED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SUPPORT (X)= No of transaction containing X / Total No of  										transaction</a:t>
            </a:r>
          </a:p>
          <a:p>
            <a:r>
              <a:rPr lang="en-IN" dirty="0"/>
              <a:t>For a rule X-&gt; Y</a:t>
            </a:r>
          </a:p>
        </p:txBody>
      </p:sp>
    </p:spTree>
    <p:extLst>
      <p:ext uri="{BB962C8B-B14F-4D97-AF65-F5344CB8AC3E}">
        <p14:creationId xmlns:p14="http://schemas.microsoft.com/office/powerpoint/2010/main" val="316788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8CFF-1DA7-44F1-34F3-067D910E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BDC4-325D-FD86-0B47-4749DB602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Consider five transactions: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Bread -&gt; Butter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1FD750-AE4B-6FF5-D782-6060DA91D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429410"/>
              </p:ext>
            </p:extLst>
          </p:nvPr>
        </p:nvGraphicFramePr>
        <p:xfrm>
          <a:off x="1822137" y="2683377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2893206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1948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04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Bread,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055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Bread, Butter,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19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8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Milk,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014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Bread, Butter,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54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35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E0FE-19B6-F5B2-9CA2-D70D83250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: Count the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70E12-C8B8-5303-CF19-CDEA0FF6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First, count transactions containing </a:t>
            </a:r>
            <a:r>
              <a:rPr lang="en-IN" b="1" dirty="0"/>
              <a:t>both Bread and Butter</a:t>
            </a:r>
            <a:r>
              <a:rPr lang="en-IN" dirty="0"/>
              <a:t>.</a:t>
            </a:r>
          </a:p>
          <a:p>
            <a:r>
              <a:rPr lang="en-IN" dirty="0"/>
              <a:t>Support=??</a:t>
            </a:r>
          </a:p>
        </p:txBody>
      </p:sp>
    </p:spTree>
    <p:extLst>
      <p:ext uri="{BB962C8B-B14F-4D97-AF65-F5344CB8AC3E}">
        <p14:creationId xmlns:p14="http://schemas.microsoft.com/office/powerpoint/2010/main" val="113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EBABC-14DC-95F0-A722-4F050ADD2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5E61-EA45-D91C-ADF4-44A634AA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: Count the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EDEBA-28DB-B49C-308C-EA4B6FEC1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First, count transactions containing </a:t>
            </a:r>
            <a:r>
              <a:rPr lang="en-IN" b="1" dirty="0"/>
              <a:t>both Bread and Butter</a:t>
            </a:r>
            <a:r>
              <a:rPr lang="en-IN" dirty="0"/>
              <a:t>.</a:t>
            </a:r>
          </a:p>
          <a:p>
            <a:r>
              <a:rPr lang="en-IN" dirty="0"/>
              <a:t>Support=0.60 or 60%</a:t>
            </a:r>
          </a:p>
        </p:txBody>
      </p:sp>
    </p:spTree>
    <p:extLst>
      <p:ext uri="{BB962C8B-B14F-4D97-AF65-F5344CB8AC3E}">
        <p14:creationId xmlns:p14="http://schemas.microsoft.com/office/powerpoint/2010/main" val="3764195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20793-73B5-24C1-6575-E36225CA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085A-9856-3DA0-15D8-9FB1F749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: Count the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3348-38D1-F665-5482-5D57D5CEB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First, count transactions containing </a:t>
            </a:r>
            <a:r>
              <a:rPr lang="en-IN" b="1" dirty="0"/>
              <a:t>both Bread and Butter</a:t>
            </a:r>
            <a:r>
              <a:rPr lang="en-IN" dirty="0"/>
              <a:t>.</a:t>
            </a:r>
          </a:p>
          <a:p>
            <a:r>
              <a:rPr lang="en-IN" dirty="0"/>
              <a:t>Support=0.60 or 60%</a:t>
            </a:r>
          </a:p>
          <a:p>
            <a:r>
              <a:rPr lang="en-IN" dirty="0"/>
              <a:t>60% of all transactions contain both Bread and Butter.</a:t>
            </a:r>
          </a:p>
        </p:txBody>
      </p:sp>
    </p:spTree>
    <p:extLst>
      <p:ext uri="{BB962C8B-B14F-4D97-AF65-F5344CB8AC3E}">
        <p14:creationId xmlns:p14="http://schemas.microsoft.com/office/powerpoint/2010/main" val="3673418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75BD4-96F4-57C4-5782-5EBB931A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52BE6-8A76-533A-EBCC-FD675E25E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632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691A6-298F-6C6F-ECE5-8BC9BD7A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6919-2167-9D62-BDB1-50B08E4A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0482-6099-D3A5-E32C-C16AED87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 tells us how frequently the combination occurs.</a:t>
            </a:r>
          </a:p>
          <a:p>
            <a:r>
              <a:rPr lang="en-IN" b="1" dirty="0"/>
              <a:t>If someone buys X, what is the probability that they will also buy Y?</a:t>
            </a:r>
          </a:p>
        </p:txBody>
      </p:sp>
    </p:spTree>
    <p:extLst>
      <p:ext uri="{BB962C8B-B14F-4D97-AF65-F5344CB8AC3E}">
        <p14:creationId xmlns:p14="http://schemas.microsoft.com/office/powerpoint/2010/main" val="498906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F511-4014-F199-F0A3-2263E111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D441-213D-5139-E5EB-D85FE2304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4A16-0A21-E69F-F5A9-290CE1756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 tells us how frequently the combination occurs.</a:t>
            </a:r>
          </a:p>
          <a:p>
            <a:r>
              <a:rPr lang="en-IN" b="1" dirty="0"/>
              <a:t>If someone buys X, what is the probability that they will also buy Y?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AD265-011D-DA3F-FC14-23ADC103E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642" y="3208358"/>
            <a:ext cx="7670716" cy="205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91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699D-D7D6-D609-40B6-0A42FA2B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LIFT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679307-193B-D59C-1D40-FF44DCF57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500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4622-1813-A538-92B5-F2D6C50A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4880-6097-FDD7-C3EA-2E18DE8C6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LIFT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EE80AD-AE36-559D-A1BD-2DD72B147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Lift measures how much more frequently X and Y occur together compared with what we would expect if they were independent.</a:t>
            </a:r>
          </a:p>
        </p:txBody>
      </p:sp>
    </p:spTree>
    <p:extLst>
      <p:ext uri="{BB962C8B-B14F-4D97-AF65-F5344CB8AC3E}">
        <p14:creationId xmlns:p14="http://schemas.microsoft.com/office/powerpoint/2010/main" val="2408889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5E59B-6E50-9F8D-4FF7-B30ABE75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7617-85A6-6421-BBDD-7A6C8305C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dirty="0"/>
              <a:t>LIFT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7CF489-80BA-BC4B-D00D-1093D0E71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Lift measures how much more frequently X and Y occur together compared with what we would expect if they were independent.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A51E5-0D70-1114-7F76-264585C02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180" y="2976506"/>
            <a:ext cx="6806261" cy="173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56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8DFB-27A6-F29F-7FF9-E67997A8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Lift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2D896-DF81-0A93-4B09-9D17DDDA3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Lift=1 </a:t>
            </a:r>
          </a:p>
          <a:p>
            <a:r>
              <a:rPr lang="en-IN" dirty="0"/>
              <a:t>There is </a:t>
            </a:r>
            <a:r>
              <a:rPr lang="en-IN" b="1" dirty="0"/>
              <a:t>no meaningful association</a:t>
            </a:r>
            <a:r>
              <a:rPr lang="en-IN" dirty="0"/>
              <a:t> beyond what would be expected by chance/independence.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897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F7059-C9FB-44DF-80F9-D726EB98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84AB-257D-36C0-AB2C-BAAE466D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Lift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6C2D-C3A2-ABE2-CA37-177D26F51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Lift&gt;1 </a:t>
            </a:r>
          </a:p>
          <a:p>
            <a:r>
              <a:rPr lang="en-IN" dirty="0"/>
              <a:t>There is a </a:t>
            </a:r>
            <a:r>
              <a:rPr lang="en-IN" b="1" dirty="0"/>
              <a:t>positive association</a:t>
            </a:r>
            <a:r>
              <a:rPr lang="en-IN" dirty="0"/>
              <a:t>.</a:t>
            </a:r>
          </a:p>
          <a:p>
            <a:r>
              <a:rPr lang="en-IN" dirty="0"/>
              <a:t>X and Y occur together more frequently than expected.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780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343B-20C5-3FEF-FFEA-5DCA1F5AD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521F-98DF-115D-4E87-D79B8150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Lift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B536A-DFCC-C662-F26E-728A41D1F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Lift&lt;1 </a:t>
            </a:r>
          </a:p>
          <a:p>
            <a:r>
              <a:rPr lang="en-IN" dirty="0"/>
              <a:t>There is a </a:t>
            </a:r>
            <a:r>
              <a:rPr lang="en-IN" b="1" dirty="0"/>
              <a:t>negative association</a:t>
            </a:r>
            <a:r>
              <a:rPr lang="en-IN" dirty="0"/>
              <a:t>.</a:t>
            </a:r>
          </a:p>
          <a:p>
            <a:r>
              <a:rPr lang="en-IN" dirty="0"/>
              <a:t>X and Y occur together less frequently than expected.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332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37C9-7EFA-7DE1-EFA0-42442C7D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AD32227-664E-4AF4-BC24-67824F0352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15165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756857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401226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581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Bread,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73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Bread, Butter,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3181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272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Milk,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36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Bread, Butter, Milk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456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121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C567B-4817-E25D-6D0C-C2263E89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132A-0DD1-2BCD-5BB6-206B3D101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3DCDC1-8A8A-949A-3838-B0ACA03CA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want to </a:t>
            </a:r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r>
              <a:rPr lang="en-IN" dirty="0" err="1"/>
              <a:t>Bread→Butter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315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69B8E-A1F0-FA00-DD26-FB0900E4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29FD-CC5D-1261-C640-852B55EB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479648-72BE-440D-9973-9186BF959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Support of Bread:</a:t>
            </a:r>
          </a:p>
          <a:p>
            <a:r>
              <a:rPr lang="en-IN" dirty="0"/>
              <a:t>Bread appears in:</a:t>
            </a:r>
          </a:p>
          <a:p>
            <a:pPr lvl="0"/>
            <a:r>
              <a:rPr lang="en-IN" dirty="0"/>
              <a:t>T1 </a:t>
            </a:r>
          </a:p>
          <a:p>
            <a:pPr lvl="0"/>
            <a:r>
              <a:rPr lang="en-IN" dirty="0"/>
              <a:t>T2 </a:t>
            </a:r>
          </a:p>
          <a:p>
            <a:pPr lvl="0"/>
            <a:r>
              <a:rPr lang="en-IN" dirty="0"/>
              <a:t>T3 </a:t>
            </a:r>
          </a:p>
          <a:p>
            <a:pPr lvl="0"/>
            <a:r>
              <a:rPr lang="en-IN" dirty="0"/>
              <a:t>T5</a:t>
            </a:r>
          </a:p>
          <a:p>
            <a:r>
              <a:rPr lang="en-IN" dirty="0"/>
              <a:t>Support(Bread)=5 / 4​=80%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48968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48093-4DD5-F102-2C55-3A6111D0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FF367-4D22-49F2-E9DE-B41EB638C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D148D1-2FE7-830F-223D-2CA17519C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Support of Butter: ??</a:t>
            </a:r>
          </a:p>
        </p:txBody>
      </p:sp>
    </p:spTree>
    <p:extLst>
      <p:ext uri="{BB962C8B-B14F-4D97-AF65-F5344CB8AC3E}">
        <p14:creationId xmlns:p14="http://schemas.microsoft.com/office/powerpoint/2010/main" val="3090343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8EAB1-1320-F9F7-8909-8210194C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DB8E-FE9B-A80E-1BE7-992490E5F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BB1C95-6838-D2BB-F4B3-2F88B8C56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Support of Butter: 80%</a:t>
            </a:r>
          </a:p>
        </p:txBody>
      </p:sp>
    </p:spTree>
    <p:extLst>
      <p:ext uri="{BB962C8B-B14F-4D97-AF65-F5344CB8AC3E}">
        <p14:creationId xmlns:p14="http://schemas.microsoft.com/office/powerpoint/2010/main" val="1071710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D239-757C-23D2-8A50-CC4DD1D2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6668A-B153-ABEA-2C60-4F62EC8C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583CBE-22C7-A6AB-582A-3242BD5AF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Support of Bread + Butter:??</a:t>
            </a:r>
          </a:p>
        </p:txBody>
      </p:sp>
    </p:spTree>
    <p:extLst>
      <p:ext uri="{BB962C8B-B14F-4D97-AF65-F5344CB8AC3E}">
        <p14:creationId xmlns:p14="http://schemas.microsoft.com/office/powerpoint/2010/main" val="726567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A3A7A-55C5-FBFA-6E0E-40551338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765C-F86A-39C3-5039-3EDEAAE0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8B205B-E3D7-03F9-BC12-0259F16B1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Support of Bread + Butter: 60%</a:t>
            </a:r>
          </a:p>
        </p:txBody>
      </p:sp>
    </p:spTree>
    <p:extLst>
      <p:ext uri="{BB962C8B-B14F-4D97-AF65-F5344CB8AC3E}">
        <p14:creationId xmlns:p14="http://schemas.microsoft.com/office/powerpoint/2010/main" val="280199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9795-0FAA-DF62-EB68-4FDEFE1D1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F66AA-D6D6-2D5C-6B7F-6069B4A8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92EB25-0333-816F-0423-ED17C932B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Confidence:</a:t>
            </a:r>
            <a:br>
              <a:rPr lang="en-IN" b="1" dirty="0"/>
            </a:br>
            <a:r>
              <a:rPr lang="en-IN" dirty="0"/>
              <a:t>The rule is:</a:t>
            </a:r>
          </a:p>
          <a:p>
            <a:r>
              <a:rPr lang="en-IN" dirty="0" err="1"/>
              <a:t>Bread→Butter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7657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4AB88-CFA7-6A51-0AF3-4C47DA6F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77D06-7876-1268-5CDC-03083D42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5750B3-7AB8-FA6F-959A-21D466FF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Confidence:</a:t>
            </a:r>
            <a:br>
              <a:rPr lang="en-IN" b="1" dirty="0"/>
            </a:br>
            <a:r>
              <a:rPr lang="en-IN" dirty="0"/>
              <a:t>The rule is:</a:t>
            </a:r>
          </a:p>
          <a:p>
            <a:r>
              <a:rPr lang="en-IN" dirty="0" err="1"/>
              <a:t>Bread→Butter</a:t>
            </a:r>
            <a:endParaRPr lang="en-IN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E9B6E-41B2-3692-34A7-F873C5636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47" y="3646993"/>
            <a:ext cx="6208656" cy="144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46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9FCC-EEF6-1C54-F492-18CFBE4E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87D09-70A6-0D3F-26D9-66A1770E8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FE1610-7EBE-7D80-3538-09A7BCF47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Confidence:</a:t>
            </a:r>
            <a:br>
              <a:rPr lang="en-IN" b="1" dirty="0"/>
            </a:br>
            <a:r>
              <a:rPr lang="en-IN" dirty="0"/>
              <a:t>The rule is:</a:t>
            </a:r>
          </a:p>
          <a:p>
            <a:r>
              <a:rPr lang="en-IN" dirty="0" err="1"/>
              <a:t>Bread→Butter</a:t>
            </a:r>
            <a:endParaRPr lang="en-IN" dirty="0"/>
          </a:p>
          <a:p>
            <a:r>
              <a:rPr lang="en-IN" b="1" dirty="0"/>
              <a:t>Confidence=75%</a:t>
            </a:r>
          </a:p>
        </p:txBody>
      </p:sp>
    </p:spTree>
    <p:extLst>
      <p:ext uri="{BB962C8B-B14F-4D97-AF65-F5344CB8AC3E}">
        <p14:creationId xmlns:p14="http://schemas.microsoft.com/office/powerpoint/2010/main" val="123771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74F53-8645-8665-7728-DFBA12985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1333-8F24-BF2C-D028-B1924B52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225005-BB12-8CC8-D539-2C495AB3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Lift: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473221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547C-6B07-7812-FF0D-ED109D0EC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21C2-6DC7-F866-A05E-70474682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3DDB37-2875-00C6-69AF-5889B020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Lift:</a:t>
            </a:r>
          </a:p>
          <a:p>
            <a:endParaRPr lang="en-IN" b="1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9D5A4-8B04-06D7-B51E-CD4202CDF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24" y="2660879"/>
            <a:ext cx="4314712" cy="153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833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01934-4564-6E95-FFD5-6D2B45BD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0A00-6007-CFC4-463D-E7F2003B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D770DF-5595-6F79-91BD-287BC5310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Calculate Lift:</a:t>
            </a:r>
            <a:endParaRPr lang="en-IN" dirty="0"/>
          </a:p>
          <a:p>
            <a:r>
              <a:rPr lang="en-IN" dirty="0"/>
              <a:t>Lift=0.9375</a:t>
            </a:r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25590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B6CC-641B-1508-DA57-8B27B3D8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63BB-9232-1768-EBFC-9A87088C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D87B18-58E6-5CE1-AAD4-59B25A66A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4D8CC2-3E2B-0B19-7764-D412B2239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09811"/>
              </p:ext>
            </p:extLst>
          </p:nvPr>
        </p:nvGraphicFramePr>
        <p:xfrm>
          <a:off x="2563317" y="1825625"/>
          <a:ext cx="6041038" cy="268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0519">
                  <a:extLst>
                    <a:ext uri="{9D8B030D-6E8A-4147-A177-3AD203B41FA5}">
                      <a16:colId xmlns:a16="http://schemas.microsoft.com/office/drawing/2014/main" val="296409590"/>
                    </a:ext>
                  </a:extLst>
                </a:gridCol>
                <a:gridCol w="3020519">
                  <a:extLst>
                    <a:ext uri="{9D8B030D-6E8A-4147-A177-3AD203B41FA5}">
                      <a16:colId xmlns:a16="http://schemas.microsoft.com/office/drawing/2014/main" val="2496274276"/>
                    </a:ext>
                  </a:extLst>
                </a:gridCol>
              </a:tblGrid>
              <a:tr h="670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158203"/>
                  </a:ext>
                </a:extLst>
              </a:tr>
              <a:tr h="670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21509"/>
                  </a:ext>
                </a:extLst>
              </a:tr>
              <a:tr h="670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6227"/>
                  </a:ext>
                </a:extLst>
              </a:tr>
              <a:tr h="670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0.9375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40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547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23BD7-D361-6961-4C24-A84576D4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9CB85B-AD5F-28D8-348B-ED67BB9A0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Support = 60%</a:t>
            </a:r>
          </a:p>
          <a:p>
            <a:r>
              <a:rPr lang="en-IN" dirty="0"/>
              <a:t>60% of all transactions contain both Bread and Butter.</a:t>
            </a:r>
          </a:p>
          <a:p>
            <a:endParaRPr lang="en-IN" dirty="0"/>
          </a:p>
          <a:p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472E36-D106-0BF6-3887-0DE5E686E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81374"/>
              </p:ext>
            </p:extLst>
          </p:nvPr>
        </p:nvGraphicFramePr>
        <p:xfrm>
          <a:off x="2998032" y="451643"/>
          <a:ext cx="4916776" cy="1603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88">
                  <a:extLst>
                    <a:ext uri="{9D8B030D-6E8A-4147-A177-3AD203B41FA5}">
                      <a16:colId xmlns:a16="http://schemas.microsoft.com/office/drawing/2014/main" val="296409590"/>
                    </a:ext>
                  </a:extLst>
                </a:gridCol>
                <a:gridCol w="2458388">
                  <a:extLst>
                    <a:ext uri="{9D8B030D-6E8A-4147-A177-3AD203B41FA5}">
                      <a16:colId xmlns:a16="http://schemas.microsoft.com/office/drawing/2014/main" val="2496274276"/>
                    </a:ext>
                  </a:extLst>
                </a:gridCol>
              </a:tblGrid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158203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21509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6227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0.9375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40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522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CAE62-4871-CA8E-7914-43B78A1D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C45403-48C6-8A2E-48AB-D3668EE32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11"/>
            <a:ext cx="10515600" cy="5469758"/>
          </a:xfrm>
        </p:spPr>
        <p:txBody>
          <a:bodyPr/>
          <a:lstStyle/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Support = 60%</a:t>
            </a:r>
          </a:p>
          <a:p>
            <a:r>
              <a:rPr lang="en-IN" dirty="0"/>
              <a:t>60% of all transactions contain both Bread and Butter.</a:t>
            </a:r>
          </a:p>
          <a:p>
            <a:r>
              <a:rPr lang="en-IN" b="1" dirty="0"/>
              <a:t>Confidence = 75%</a:t>
            </a:r>
          </a:p>
          <a:p>
            <a:r>
              <a:rPr lang="en-IN" dirty="0"/>
              <a:t>Among customers who buy Bread, 75% also buy Butter.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99680B-B84F-9796-718F-94C32E99A4CF}"/>
              </a:ext>
            </a:extLst>
          </p:cNvPr>
          <p:cNvGraphicFramePr>
            <a:graphicFrameLocks noGrp="1"/>
          </p:cNvGraphicFramePr>
          <p:nvPr/>
        </p:nvGraphicFramePr>
        <p:xfrm>
          <a:off x="2998032" y="451643"/>
          <a:ext cx="4916776" cy="1603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88">
                  <a:extLst>
                    <a:ext uri="{9D8B030D-6E8A-4147-A177-3AD203B41FA5}">
                      <a16:colId xmlns:a16="http://schemas.microsoft.com/office/drawing/2014/main" val="296409590"/>
                    </a:ext>
                  </a:extLst>
                </a:gridCol>
                <a:gridCol w="2458388">
                  <a:extLst>
                    <a:ext uri="{9D8B030D-6E8A-4147-A177-3AD203B41FA5}">
                      <a16:colId xmlns:a16="http://schemas.microsoft.com/office/drawing/2014/main" val="2496274276"/>
                    </a:ext>
                  </a:extLst>
                </a:gridCol>
              </a:tblGrid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158203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21509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6227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0.9375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40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730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FC84F-8070-4C69-5C0B-49125F61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65A54C-FA55-FA55-5D0C-E5D669ABE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11"/>
            <a:ext cx="10515600" cy="6271446"/>
          </a:xfrm>
        </p:spPr>
        <p:txBody>
          <a:bodyPr/>
          <a:lstStyle/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Lift = 0.9375</a:t>
            </a:r>
          </a:p>
          <a:p>
            <a:r>
              <a:rPr lang="en-IN" dirty="0"/>
              <a:t>Because:</a:t>
            </a:r>
          </a:p>
          <a:p>
            <a:r>
              <a:rPr lang="en-IN" dirty="0"/>
              <a:t>0.9375&lt;1 </a:t>
            </a:r>
          </a:p>
          <a:p>
            <a:r>
              <a:rPr lang="en-IN" dirty="0"/>
              <a:t>Bread buyers are actually </a:t>
            </a:r>
            <a:r>
              <a:rPr lang="en-IN" b="1" dirty="0"/>
              <a:t>slightly less likely</a:t>
            </a:r>
            <a:r>
              <a:rPr lang="en-IN" dirty="0"/>
              <a:t> to buy Butter than would be expected based on Butter's overall popularity.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7AAE78-6E69-57C8-8C44-C6BDD8B54D7C}"/>
              </a:ext>
            </a:extLst>
          </p:cNvPr>
          <p:cNvGraphicFramePr>
            <a:graphicFrameLocks noGrp="1"/>
          </p:cNvGraphicFramePr>
          <p:nvPr/>
        </p:nvGraphicFramePr>
        <p:xfrm>
          <a:off x="2998032" y="451643"/>
          <a:ext cx="4916776" cy="1603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88">
                  <a:extLst>
                    <a:ext uri="{9D8B030D-6E8A-4147-A177-3AD203B41FA5}">
                      <a16:colId xmlns:a16="http://schemas.microsoft.com/office/drawing/2014/main" val="296409590"/>
                    </a:ext>
                  </a:extLst>
                </a:gridCol>
                <a:gridCol w="2458388">
                  <a:extLst>
                    <a:ext uri="{9D8B030D-6E8A-4147-A177-3AD203B41FA5}">
                      <a16:colId xmlns:a16="http://schemas.microsoft.com/office/drawing/2014/main" val="2496274276"/>
                    </a:ext>
                  </a:extLst>
                </a:gridCol>
              </a:tblGrid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158203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21509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6227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0.9375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40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402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EC12-309B-F102-C810-A6430B23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C58A6F-506B-C4DC-5C48-230CDB7AF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911"/>
            <a:ext cx="10515600" cy="6271446"/>
          </a:xfrm>
        </p:spPr>
        <p:txBody>
          <a:bodyPr/>
          <a:lstStyle/>
          <a:p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b="1" dirty="0"/>
              <a:t>Lift = 0.9375</a:t>
            </a:r>
          </a:p>
          <a:p>
            <a:r>
              <a:rPr lang="en-IN" dirty="0"/>
              <a:t>Because:</a:t>
            </a:r>
          </a:p>
          <a:p>
            <a:r>
              <a:rPr lang="en-IN" dirty="0"/>
              <a:t>0.9375&lt;1 </a:t>
            </a:r>
          </a:p>
          <a:p>
            <a:r>
              <a:rPr lang="en-IN" dirty="0"/>
              <a:t>Bread buyers are actually </a:t>
            </a:r>
            <a:r>
              <a:rPr lang="en-IN" b="1" dirty="0"/>
              <a:t>slightly less likely</a:t>
            </a:r>
            <a:r>
              <a:rPr lang="en-IN" dirty="0"/>
              <a:t> to buy Butter than would be expected based on Butter's overall popularity.</a:t>
            </a:r>
          </a:p>
          <a:p>
            <a:r>
              <a:rPr lang="en-IN" dirty="0"/>
              <a:t>This is an excellent example of why </a:t>
            </a:r>
            <a:r>
              <a:rPr lang="en-IN" b="1" dirty="0"/>
              <a:t>high confidence does not automatically mean a strong association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9E1FDF-3817-E499-F917-3BD7484FF177}"/>
              </a:ext>
            </a:extLst>
          </p:cNvPr>
          <p:cNvGraphicFramePr>
            <a:graphicFrameLocks noGrp="1"/>
          </p:cNvGraphicFramePr>
          <p:nvPr/>
        </p:nvGraphicFramePr>
        <p:xfrm>
          <a:off x="2998032" y="451643"/>
          <a:ext cx="4916776" cy="1603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388">
                  <a:extLst>
                    <a:ext uri="{9D8B030D-6E8A-4147-A177-3AD203B41FA5}">
                      <a16:colId xmlns:a16="http://schemas.microsoft.com/office/drawing/2014/main" val="296409590"/>
                    </a:ext>
                  </a:extLst>
                </a:gridCol>
                <a:gridCol w="2458388">
                  <a:extLst>
                    <a:ext uri="{9D8B030D-6E8A-4147-A177-3AD203B41FA5}">
                      <a16:colId xmlns:a16="http://schemas.microsoft.com/office/drawing/2014/main" val="2496274276"/>
                    </a:ext>
                  </a:extLst>
                </a:gridCol>
              </a:tblGrid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4158203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921509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75%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386227"/>
                  </a:ext>
                </a:extLst>
              </a:tr>
              <a:tr h="400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0.9375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40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800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766</Words>
  <Application>Microsoft Office PowerPoint</Application>
  <PresentationFormat>Widescreen</PresentationFormat>
  <Paragraphs>223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Office Theme</vt:lpstr>
      <vt:lpstr>MARKET BASKET ANALYSIS </vt:lpstr>
      <vt:lpstr>WHAT IS MBA?</vt:lpstr>
      <vt:lpstr>SUPPORT</vt:lpstr>
      <vt:lpstr>Confidence</vt:lpstr>
      <vt:lpstr>Confidence</vt:lpstr>
      <vt:lpstr>Lift</vt:lpstr>
      <vt:lpstr>Lift</vt:lpstr>
      <vt:lpstr>Association Rule Mining</vt:lpstr>
      <vt:lpstr>ITEMSET</vt:lpstr>
      <vt:lpstr>Item set</vt:lpstr>
      <vt:lpstr>Support</vt:lpstr>
      <vt:lpstr>E.X</vt:lpstr>
      <vt:lpstr>Step 1 : Count the transaction</vt:lpstr>
      <vt:lpstr>Step 1 : Count the transaction</vt:lpstr>
      <vt:lpstr>Step 1 : Count the transaction</vt:lpstr>
      <vt:lpstr>Confidence</vt:lpstr>
      <vt:lpstr>Confidence</vt:lpstr>
      <vt:lpstr>Confidence</vt:lpstr>
      <vt:lpstr>LIFT</vt:lpstr>
      <vt:lpstr>LIFT</vt:lpstr>
      <vt:lpstr>LIFT</vt:lpstr>
      <vt:lpstr>Interpretation of Lift</vt:lpstr>
      <vt:lpstr>Interpretation of Lift</vt:lpstr>
      <vt:lpstr>Interpretation of Lift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RESULT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25</cp:revision>
  <dcterms:created xsi:type="dcterms:W3CDTF">2026-08-17T06:33:08Z</dcterms:created>
  <dcterms:modified xsi:type="dcterms:W3CDTF">2026-08-17T08:46:20Z</dcterms:modified>
</cp:coreProperties>
</file>