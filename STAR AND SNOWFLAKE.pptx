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23B81-BBF9-FB11-A117-75B0CD462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23095-777E-4FCB-4141-5341D84BD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12816-2D94-59A9-BC11-63C4D9242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3B98-23EE-49B1-A2D8-0AEBB2EF117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F039B-F902-5094-073D-1DCB38CF3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718EA-FE99-361D-7B86-43BAFE8C0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1EA83-C4D9-4F89-881A-F5E5ADC34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560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7C8BC-27B1-0F73-35EE-8809E825A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78040-06FB-6D03-EE93-1644ACE2A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0BE43-D15B-ACF5-CBB4-856F1BBF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3B98-23EE-49B1-A2D8-0AEBB2EF117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A9D18-DCC4-3848-789B-CECEE2A50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08DAA-853A-4E0A-A9DB-B0EDC652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1EA83-C4D9-4F89-881A-F5E5ADC34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512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0A0A7-609E-9F44-6073-C2846DFEB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959EF-D4FC-86E1-1613-6575C2A2B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A6149-8E04-8772-6BC9-E5E76ED4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3B98-23EE-49B1-A2D8-0AEBB2EF117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A6C0A-0F42-FE7A-B5B0-FAE25587B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646E1-6579-B4A8-FBCB-F2851F887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1EA83-C4D9-4F89-881A-F5E5ADC34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075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C2BA4-6BB3-34EB-34C2-70E5593F4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8586D-DFF0-3410-F51A-CFB7ACB918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7330B-A634-883D-F016-68F9A6A73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053EC-C2F3-BD51-85BE-9B7A6651F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3B98-23EE-49B1-A2D8-0AEBB2EF117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8B65EF-30F3-EB42-BB9F-6ECC4F4E6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356CF-8E21-BBE4-DBC7-51C669734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1EA83-C4D9-4F89-881A-F5E5ADC34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79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D5453-F6E6-4FA8-ACC7-FAB627A66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69D5B-250F-A9B1-1785-28A1E504AB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B76D2-B900-FB3D-096E-4A062F6D5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07E50A-8988-5BC6-7750-5CE7A9A056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347EB-39D3-6351-4108-18D120C5F5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AF5A67-6FB2-1EB1-3350-56DFA421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3B98-23EE-49B1-A2D8-0AEBB2EF117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848C1-7A74-8E53-DB99-0DAF0CB1D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87D4D4-BDBE-E54D-A9EE-146CE5C6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1EA83-C4D9-4F89-881A-F5E5ADC34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92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A1C71-444C-0495-147B-16437FB8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769E72-274A-0FFB-279D-8F848154F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3B98-23EE-49B1-A2D8-0AEBB2EF117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8CA13-4696-A43E-C17D-F0D23DD0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84C180-F065-341A-B38C-5841F275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1EA83-C4D9-4F89-881A-F5E5ADC34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957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D96CC7-A6F2-66FB-BD08-FC415EDE9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3B98-23EE-49B1-A2D8-0AEBB2EF117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DBE770-5391-109C-F6BB-0ED02B147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E1436-F87D-3D8F-8F5C-F9652DA18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1EA83-C4D9-4F89-881A-F5E5ADC34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677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EA0BB-BA5F-8C80-CCC6-81519A08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487B3-FCF1-F4CD-23AA-35E8F7F17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18B54-275C-88BC-9377-FAC98D6D8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4E0A5F-7A50-6CC3-5B9A-9B1785F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3B98-23EE-49B1-A2D8-0AEBB2EF117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E2FD8-4831-E350-9297-B0D6AAF9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2EE5D-587A-610B-2ED1-DE669E2E9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1EA83-C4D9-4F89-881A-F5E5ADC34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675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A873A-E2B2-D564-4304-E31F2D93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CB8FA0-7EB9-16EE-6168-40FCBB42E5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45903-066A-CABA-5F92-918C86DA7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1F0E4-C6BE-1E6C-CDED-5D05B8564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3B98-23EE-49B1-A2D8-0AEBB2EF117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6BE28-63CE-1102-EF59-9EA5B6857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AE770-B50E-6A5B-7BAD-82BBC8521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1EA83-C4D9-4F89-881A-F5E5ADC34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342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6C5AE-5AF5-8BD9-156A-5E76C60C4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4D48C7-AE78-17E4-8C15-646BF2AF8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B0704-7FF9-591B-2991-08E24907F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3B98-23EE-49B1-A2D8-0AEBB2EF117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1C44F-CA09-3D08-1928-3C91A4B82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D449E-9988-39FE-7871-BA1B17B12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1EA83-C4D9-4F89-881A-F5E5ADC34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923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17E7A6-A2A4-3FFC-7A1F-E2DF470623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596270-E365-14A2-AB78-080D8ABC7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24EA3-B856-8912-B416-EA1A3B396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C3B98-23EE-49B1-A2D8-0AEBB2EF117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75B72-8C2E-30E9-8EA1-0743D10AF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4C396-E8DF-3AA3-D7FB-DD754C6FE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1EA83-C4D9-4F89-881A-F5E5ADC34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719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8D715A-C9BE-2D79-BB94-429F508A0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FA7B0-588B-C5A5-4443-B185CAB61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615BB-3511-3566-4B1F-BDFF06624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BC3B98-23EE-49B1-A2D8-0AEBB2EF117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7F944-F556-FC69-82F3-F52EB84D9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37D48-6688-145C-9550-8FACD85C02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E1EA83-C4D9-4F89-881A-F5E5ADC34F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514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52B51-CEB3-F37A-1678-49A84FDE33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STAR AND SNOWFLAKE SCHEMA</a:t>
            </a:r>
          </a:p>
        </p:txBody>
      </p:sp>
    </p:spTree>
    <p:extLst>
      <p:ext uri="{BB962C8B-B14F-4D97-AF65-F5344CB8AC3E}">
        <p14:creationId xmlns:p14="http://schemas.microsoft.com/office/powerpoint/2010/main" val="3724969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4734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684719-FB4C-C58A-74FA-5BDC10CD7C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7439145"/>
              </p:ext>
            </p:extLst>
          </p:nvPr>
        </p:nvGraphicFramePr>
        <p:xfrm>
          <a:off x="3954780" y="1825624"/>
          <a:ext cx="4434840" cy="2885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4840">
                  <a:extLst>
                    <a:ext uri="{9D8B030D-6E8A-4147-A177-3AD203B41FA5}">
                      <a16:colId xmlns:a16="http://schemas.microsoft.com/office/drawing/2014/main" val="2248217477"/>
                    </a:ext>
                  </a:extLst>
                </a:gridCol>
              </a:tblGrid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AMAZON_SALES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9128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PRODUCT_KEY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523068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CUSTOMER_ID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170988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14243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SALES_AMOUNT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675753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TRANSACTION_ID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1566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285266D-BA7F-1BA1-4D59-E086BD8639DB}"/>
              </a:ext>
            </a:extLst>
          </p:cNvPr>
          <p:cNvSpPr txBox="1"/>
          <p:nvPr/>
        </p:nvSpPr>
        <p:spPr>
          <a:xfrm>
            <a:off x="5082421" y="5600700"/>
            <a:ext cx="2027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QUANTATIVE DATA</a:t>
            </a:r>
          </a:p>
        </p:txBody>
      </p:sp>
    </p:spTree>
    <p:extLst>
      <p:ext uri="{BB962C8B-B14F-4D97-AF65-F5344CB8AC3E}">
        <p14:creationId xmlns:p14="http://schemas.microsoft.com/office/powerpoint/2010/main" val="3350926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8424A-4557-0826-0585-4214DE7B3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512F56-F9D1-C91B-486F-9A9FA4D67A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223190"/>
              </p:ext>
            </p:extLst>
          </p:nvPr>
        </p:nvGraphicFramePr>
        <p:xfrm>
          <a:off x="6400800" y="2697480"/>
          <a:ext cx="4434840" cy="277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4840">
                  <a:extLst>
                    <a:ext uri="{9D8B030D-6E8A-4147-A177-3AD203B41FA5}">
                      <a16:colId xmlns:a16="http://schemas.microsoft.com/office/drawing/2014/main" val="2248217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AMAZON_SALES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9128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PRODUCT_ID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523068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CUSTOMER_ID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170988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14243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SALES_AMOUNT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675753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TRANSACTION_ID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156690"/>
                  </a:ext>
                </a:extLst>
              </a:tr>
            </a:tbl>
          </a:graphicData>
        </a:graphic>
      </p:graphicFrame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5E48FECB-3A0A-265D-BB7D-A869849536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3538337"/>
              </p:ext>
            </p:extLst>
          </p:nvPr>
        </p:nvGraphicFramePr>
        <p:xfrm>
          <a:off x="464820" y="543876"/>
          <a:ext cx="4434840" cy="2885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4840">
                  <a:extLst>
                    <a:ext uri="{9D8B030D-6E8A-4147-A177-3AD203B41FA5}">
                      <a16:colId xmlns:a16="http://schemas.microsoft.com/office/drawing/2014/main" val="2248217477"/>
                    </a:ext>
                  </a:extLst>
                </a:gridCol>
              </a:tblGrid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PRODUCT DIMENSION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9128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PRODUCT_NAME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523068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170988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BRAND(NIKE,PUMA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14243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PRODUCT_ID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675753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TRANSACTION_ID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156690"/>
                  </a:ext>
                </a:extLst>
              </a:tr>
            </a:tbl>
          </a:graphicData>
        </a:graphic>
      </p:graphicFrame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2D480E34-03FD-5EF2-7838-CF94D384F4CF}"/>
              </a:ext>
            </a:extLst>
          </p:cNvPr>
          <p:cNvCxnSpPr/>
          <p:nvPr/>
        </p:nvCxnSpPr>
        <p:spPr>
          <a:xfrm>
            <a:off x="3432748" y="3429000"/>
            <a:ext cx="2968052" cy="1113020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950BFFF-F5A4-BC9E-289F-094712DE6C93}"/>
              </a:ext>
            </a:extLst>
          </p:cNvPr>
          <p:cNvSpPr txBox="1"/>
          <p:nvPr/>
        </p:nvSpPr>
        <p:spPr>
          <a:xfrm>
            <a:off x="935143" y="3616178"/>
            <a:ext cx="2131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DESCRIPTIVE  DATA</a:t>
            </a:r>
          </a:p>
        </p:txBody>
      </p:sp>
    </p:spTree>
    <p:extLst>
      <p:ext uri="{BB962C8B-B14F-4D97-AF65-F5344CB8AC3E}">
        <p14:creationId xmlns:p14="http://schemas.microsoft.com/office/powerpoint/2010/main" val="2337508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37052-32D5-F9CB-ED5E-BD1967F57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0A5F49-BF86-5B3C-6D1E-DD801057D16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800" y="2697480"/>
          <a:ext cx="4434840" cy="277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4840">
                  <a:extLst>
                    <a:ext uri="{9D8B030D-6E8A-4147-A177-3AD203B41FA5}">
                      <a16:colId xmlns:a16="http://schemas.microsoft.com/office/drawing/2014/main" val="2248217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AMAZON_SALES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9128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PRODUCT_ID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523068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CUSTOMER_ID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170988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14243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SALES_AMOUNT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675753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TRANSACTION_ID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156690"/>
                  </a:ext>
                </a:extLst>
              </a:tr>
            </a:tbl>
          </a:graphicData>
        </a:graphic>
      </p:graphicFrame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996F63D0-22D0-AED3-5DC6-90F6AB2C8B67}"/>
              </a:ext>
            </a:extLst>
          </p:cNvPr>
          <p:cNvGraphicFramePr>
            <a:graphicFrameLocks/>
          </p:cNvGraphicFramePr>
          <p:nvPr/>
        </p:nvGraphicFramePr>
        <p:xfrm>
          <a:off x="464820" y="543876"/>
          <a:ext cx="4434840" cy="2885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4840">
                  <a:extLst>
                    <a:ext uri="{9D8B030D-6E8A-4147-A177-3AD203B41FA5}">
                      <a16:colId xmlns:a16="http://schemas.microsoft.com/office/drawing/2014/main" val="2248217477"/>
                    </a:ext>
                  </a:extLst>
                </a:gridCol>
              </a:tblGrid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PRODUCT DIMENSION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9128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PRODUCT_NAME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523068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170988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BRAND(NIKE,PUMA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14243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PRODUCT_ID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675753"/>
                  </a:ext>
                </a:extLst>
              </a:tr>
              <a:tr h="480854">
                <a:tc>
                  <a:txBody>
                    <a:bodyPr/>
                    <a:lstStyle/>
                    <a:p>
                      <a:r>
                        <a:rPr lang="en-IN" dirty="0"/>
                        <a:t>TRANSACTION_ID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156690"/>
                  </a:ext>
                </a:extLst>
              </a:tr>
            </a:tbl>
          </a:graphicData>
        </a:graphic>
      </p:graphicFrame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DA5007D9-5790-D547-CAAA-F855DAC04B01}"/>
              </a:ext>
            </a:extLst>
          </p:cNvPr>
          <p:cNvCxnSpPr/>
          <p:nvPr/>
        </p:nvCxnSpPr>
        <p:spPr>
          <a:xfrm>
            <a:off x="3432748" y="3429000"/>
            <a:ext cx="2968052" cy="1113020"/>
          </a:xfrm>
          <a:prstGeom prst="bentConnector3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A73F38AB-6DD8-CE3D-F090-DB7AFA22FD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7909821"/>
              </p:ext>
            </p:extLst>
          </p:nvPr>
        </p:nvGraphicFramePr>
        <p:xfrm>
          <a:off x="8319541" y="292475"/>
          <a:ext cx="3613004" cy="2196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3004">
                  <a:extLst>
                    <a:ext uri="{9D8B030D-6E8A-4147-A177-3AD203B41FA5}">
                      <a16:colId xmlns:a16="http://schemas.microsoft.com/office/drawing/2014/main" val="2248217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CUSTOMER  DIMENSION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9128"/>
                  </a:ext>
                </a:extLst>
              </a:tr>
              <a:tr h="366054">
                <a:tc>
                  <a:txBody>
                    <a:bodyPr/>
                    <a:lstStyle/>
                    <a:p>
                      <a:r>
                        <a:rPr lang="en-IN" dirty="0"/>
                        <a:t>CUSTOMER_NAME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523068"/>
                  </a:ext>
                </a:extLst>
              </a:tr>
              <a:tr h="366054">
                <a:tc>
                  <a:txBody>
                    <a:bodyPr/>
                    <a:lstStyle/>
                    <a:p>
                      <a:r>
                        <a:rPr lang="en-IN" dirty="0"/>
                        <a:t>CUSTOMER_ID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170988"/>
                  </a:ext>
                </a:extLst>
              </a:tr>
              <a:tr h="366054">
                <a:tc>
                  <a:txBody>
                    <a:bodyPr/>
                    <a:lstStyle/>
                    <a:p>
                      <a:r>
                        <a:rPr lang="en-IN" dirty="0"/>
                        <a:t>PHONE NUMER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14243"/>
                  </a:ext>
                </a:extLst>
              </a:tr>
              <a:tr h="366054">
                <a:tc>
                  <a:txBody>
                    <a:bodyPr/>
                    <a:lstStyle/>
                    <a:p>
                      <a:r>
                        <a:rPr lang="en-IN" dirty="0"/>
                        <a:t>LOCATION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675753"/>
                  </a:ext>
                </a:extLst>
              </a:tr>
              <a:tr h="366054">
                <a:tc>
                  <a:txBody>
                    <a:bodyPr/>
                    <a:lstStyle/>
                    <a:p>
                      <a:r>
                        <a:rPr lang="en-IN" dirty="0"/>
                        <a:t>IS FREQUENT?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156690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DF9666-4DFB-1CD1-0CB6-524EFBD7D14D}"/>
              </a:ext>
            </a:extLst>
          </p:cNvPr>
          <p:cNvCxnSpPr/>
          <p:nvPr/>
        </p:nvCxnSpPr>
        <p:spPr>
          <a:xfrm>
            <a:off x="8874177" y="2488505"/>
            <a:ext cx="0" cy="2089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900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049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443ED-F9BB-4FE4-DEA0-DE6E145F51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SNOWFLAKE</a:t>
            </a:r>
          </a:p>
        </p:txBody>
      </p:sp>
    </p:spTree>
    <p:extLst>
      <p:ext uri="{BB962C8B-B14F-4D97-AF65-F5344CB8AC3E}">
        <p14:creationId xmlns:p14="http://schemas.microsoft.com/office/powerpoint/2010/main" val="542526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821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3B950-8188-097B-6FCB-7FF099B09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DAD492-436F-9F94-1F96-6C43AC77181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524937" y="4160519"/>
          <a:ext cx="344548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5489">
                  <a:extLst>
                    <a:ext uri="{9D8B030D-6E8A-4147-A177-3AD203B41FA5}">
                      <a16:colId xmlns:a16="http://schemas.microsoft.com/office/drawing/2014/main" val="2248217477"/>
                    </a:ext>
                  </a:extLst>
                </a:gridCol>
              </a:tblGrid>
              <a:tr h="270774">
                <a:tc>
                  <a:txBody>
                    <a:bodyPr/>
                    <a:lstStyle/>
                    <a:p>
                      <a:r>
                        <a:rPr lang="en-IN" dirty="0"/>
                        <a:t>AMAZON_SALES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9128"/>
                  </a:ext>
                </a:extLst>
              </a:tr>
              <a:tr h="355979">
                <a:tc>
                  <a:txBody>
                    <a:bodyPr/>
                    <a:lstStyle/>
                    <a:p>
                      <a:r>
                        <a:rPr lang="en-IN" dirty="0"/>
                        <a:t>PRODUCT_ID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523068"/>
                  </a:ext>
                </a:extLst>
              </a:tr>
              <a:tr h="355979">
                <a:tc>
                  <a:txBody>
                    <a:bodyPr/>
                    <a:lstStyle/>
                    <a:p>
                      <a:r>
                        <a:rPr lang="en-IN" dirty="0"/>
                        <a:t>CUSTOMER_ID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170988"/>
                  </a:ext>
                </a:extLst>
              </a:tr>
              <a:tr h="355979">
                <a:tc>
                  <a:txBody>
                    <a:bodyPr/>
                    <a:lstStyle/>
                    <a:p>
                      <a:r>
                        <a:rPr lang="en-IN" dirty="0"/>
                        <a:t>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14243"/>
                  </a:ext>
                </a:extLst>
              </a:tr>
              <a:tr h="355979">
                <a:tc>
                  <a:txBody>
                    <a:bodyPr/>
                    <a:lstStyle/>
                    <a:p>
                      <a:r>
                        <a:rPr lang="en-IN" dirty="0"/>
                        <a:t>SALES_AMOUNT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675753"/>
                  </a:ext>
                </a:extLst>
              </a:tr>
              <a:tr h="355979">
                <a:tc>
                  <a:txBody>
                    <a:bodyPr/>
                    <a:lstStyle/>
                    <a:p>
                      <a:r>
                        <a:rPr lang="en-IN" dirty="0"/>
                        <a:t>TRANSACTION_ID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156690"/>
                  </a:ext>
                </a:extLst>
              </a:tr>
            </a:tbl>
          </a:graphicData>
        </a:graphic>
      </p:graphicFrame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CF36ED1A-CEED-F9AA-6055-3BC9F30A0370}"/>
              </a:ext>
            </a:extLst>
          </p:cNvPr>
          <p:cNvGraphicFramePr>
            <a:graphicFrameLocks/>
          </p:cNvGraphicFramePr>
          <p:nvPr/>
        </p:nvGraphicFramePr>
        <p:xfrm>
          <a:off x="259455" y="361364"/>
          <a:ext cx="3613003" cy="2336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3003">
                  <a:extLst>
                    <a:ext uri="{9D8B030D-6E8A-4147-A177-3AD203B41FA5}">
                      <a16:colId xmlns:a16="http://schemas.microsoft.com/office/drawing/2014/main" val="2248217477"/>
                    </a:ext>
                  </a:extLst>
                </a:gridCol>
              </a:tblGrid>
              <a:tr h="389353">
                <a:tc>
                  <a:txBody>
                    <a:bodyPr/>
                    <a:lstStyle/>
                    <a:p>
                      <a:r>
                        <a:rPr lang="en-IN" dirty="0"/>
                        <a:t>PRODUCT DIMENSION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9128"/>
                  </a:ext>
                </a:extLst>
              </a:tr>
              <a:tr h="389353">
                <a:tc>
                  <a:txBody>
                    <a:bodyPr/>
                    <a:lstStyle/>
                    <a:p>
                      <a:r>
                        <a:rPr lang="en-IN" dirty="0"/>
                        <a:t>PRODUCT_NAME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523068"/>
                  </a:ext>
                </a:extLst>
              </a:tr>
              <a:tr h="389353">
                <a:tc>
                  <a:txBody>
                    <a:bodyPr/>
                    <a:lstStyle/>
                    <a:p>
                      <a:r>
                        <a:rPr lang="en-IN" dirty="0"/>
                        <a:t>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170988"/>
                  </a:ext>
                </a:extLst>
              </a:tr>
              <a:tr h="389353">
                <a:tc>
                  <a:txBody>
                    <a:bodyPr/>
                    <a:lstStyle/>
                    <a:p>
                      <a:r>
                        <a:rPr lang="en-IN" dirty="0"/>
                        <a:t>BRAND(NIKE,PUMA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14243"/>
                  </a:ext>
                </a:extLst>
              </a:tr>
              <a:tr h="389353">
                <a:tc>
                  <a:txBody>
                    <a:bodyPr/>
                    <a:lstStyle/>
                    <a:p>
                      <a:r>
                        <a:rPr lang="en-IN" dirty="0"/>
                        <a:t>PRODUCT_ID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675753"/>
                  </a:ext>
                </a:extLst>
              </a:tr>
              <a:tr h="389353">
                <a:tc>
                  <a:txBody>
                    <a:bodyPr/>
                    <a:lstStyle/>
                    <a:p>
                      <a:r>
                        <a:rPr lang="en-IN" dirty="0"/>
                        <a:t>TRANSACTION_ID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15669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C1210C0-32ED-9468-CB7D-655F063736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7931090"/>
              </p:ext>
            </p:extLst>
          </p:nvPr>
        </p:nvGraphicFramePr>
        <p:xfrm>
          <a:off x="6235908" y="1294531"/>
          <a:ext cx="3613004" cy="2196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3004">
                  <a:extLst>
                    <a:ext uri="{9D8B030D-6E8A-4147-A177-3AD203B41FA5}">
                      <a16:colId xmlns:a16="http://schemas.microsoft.com/office/drawing/2014/main" val="2248217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CUSTOMER  DIMENSION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9128"/>
                  </a:ext>
                </a:extLst>
              </a:tr>
              <a:tr h="366054">
                <a:tc>
                  <a:txBody>
                    <a:bodyPr/>
                    <a:lstStyle/>
                    <a:p>
                      <a:r>
                        <a:rPr lang="en-IN" dirty="0"/>
                        <a:t>CUSTOMER_NAME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523068"/>
                  </a:ext>
                </a:extLst>
              </a:tr>
              <a:tr h="366054">
                <a:tc>
                  <a:txBody>
                    <a:bodyPr/>
                    <a:lstStyle/>
                    <a:p>
                      <a:r>
                        <a:rPr lang="en-IN" dirty="0"/>
                        <a:t>CUSTOMER_ID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170988"/>
                  </a:ext>
                </a:extLst>
              </a:tr>
              <a:tr h="366054">
                <a:tc>
                  <a:txBody>
                    <a:bodyPr/>
                    <a:lstStyle/>
                    <a:p>
                      <a:r>
                        <a:rPr lang="en-IN" dirty="0"/>
                        <a:t>PHONE NUMER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14243"/>
                  </a:ext>
                </a:extLst>
              </a:tr>
              <a:tr h="366054">
                <a:tc>
                  <a:txBody>
                    <a:bodyPr/>
                    <a:lstStyle/>
                    <a:p>
                      <a:r>
                        <a:rPr lang="en-IN" dirty="0"/>
                        <a:t>LOCATION 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675753"/>
                  </a:ext>
                </a:extLst>
              </a:tr>
              <a:tr h="366054">
                <a:tc>
                  <a:txBody>
                    <a:bodyPr/>
                    <a:lstStyle/>
                    <a:p>
                      <a:r>
                        <a:rPr lang="en-IN" dirty="0"/>
                        <a:t>IS FREQUENT?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156690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B11CE5-9464-B780-3103-8CE0E4917000}"/>
              </a:ext>
            </a:extLst>
          </p:cNvPr>
          <p:cNvCxnSpPr/>
          <p:nvPr/>
        </p:nvCxnSpPr>
        <p:spPr>
          <a:xfrm>
            <a:off x="8874177" y="2488505"/>
            <a:ext cx="0" cy="2089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C20AA44D-E3B3-C88B-DA3E-7F0B5E391618}"/>
              </a:ext>
            </a:extLst>
          </p:cNvPr>
          <p:cNvCxnSpPr/>
          <p:nvPr/>
        </p:nvCxnSpPr>
        <p:spPr>
          <a:xfrm rot="16200000" flipH="1">
            <a:off x="1432310" y="2809157"/>
            <a:ext cx="2204304" cy="198095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1A898E-DF12-31C1-6663-D1959E0011BF}"/>
              </a:ext>
            </a:extLst>
          </p:cNvPr>
          <p:cNvCxnSpPr/>
          <p:nvPr/>
        </p:nvCxnSpPr>
        <p:spPr>
          <a:xfrm>
            <a:off x="6460761" y="3490561"/>
            <a:ext cx="0" cy="6699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657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D7E32-34BB-F3A7-A7B6-B7A1A9CA0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0C822F-DC41-2C12-EDCF-482028A629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3118137"/>
              </p:ext>
            </p:extLst>
          </p:nvPr>
        </p:nvGraphicFramePr>
        <p:xfrm>
          <a:off x="3524937" y="4160519"/>
          <a:ext cx="344548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5489">
                  <a:extLst>
                    <a:ext uri="{9D8B030D-6E8A-4147-A177-3AD203B41FA5}">
                      <a16:colId xmlns:a16="http://schemas.microsoft.com/office/drawing/2014/main" val="2248217477"/>
                    </a:ext>
                  </a:extLst>
                </a:gridCol>
              </a:tblGrid>
              <a:tr h="270774">
                <a:tc>
                  <a:txBody>
                    <a:bodyPr/>
                    <a:lstStyle/>
                    <a:p>
                      <a:r>
                        <a:rPr lang="en-IN" dirty="0"/>
                        <a:t>AMAZON_SALES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9128"/>
                  </a:ext>
                </a:extLst>
              </a:tr>
              <a:tr h="355979">
                <a:tc>
                  <a:txBody>
                    <a:bodyPr/>
                    <a:lstStyle/>
                    <a:p>
                      <a:r>
                        <a:rPr lang="en-IN" dirty="0"/>
                        <a:t>PRODUCT_ID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523068"/>
                  </a:ext>
                </a:extLst>
              </a:tr>
              <a:tr h="355979">
                <a:tc>
                  <a:txBody>
                    <a:bodyPr/>
                    <a:lstStyle/>
                    <a:p>
                      <a:r>
                        <a:rPr lang="en-IN" dirty="0"/>
                        <a:t>CUSTOMER_ID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170988"/>
                  </a:ext>
                </a:extLst>
              </a:tr>
              <a:tr h="355979">
                <a:tc>
                  <a:txBody>
                    <a:bodyPr/>
                    <a:lstStyle/>
                    <a:p>
                      <a:r>
                        <a:rPr lang="en-IN" dirty="0"/>
                        <a:t>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14243"/>
                  </a:ext>
                </a:extLst>
              </a:tr>
              <a:tr h="355979">
                <a:tc>
                  <a:txBody>
                    <a:bodyPr/>
                    <a:lstStyle/>
                    <a:p>
                      <a:r>
                        <a:rPr lang="en-IN" dirty="0"/>
                        <a:t>SALES_AMOUNT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675753"/>
                  </a:ext>
                </a:extLst>
              </a:tr>
              <a:tr h="355979">
                <a:tc>
                  <a:txBody>
                    <a:bodyPr/>
                    <a:lstStyle/>
                    <a:p>
                      <a:r>
                        <a:rPr lang="en-IN" dirty="0"/>
                        <a:t>TRANSACTION_ID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156690"/>
                  </a:ext>
                </a:extLst>
              </a:tr>
            </a:tbl>
          </a:graphicData>
        </a:graphic>
      </p:graphicFrame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id="{3FBED362-121E-31DA-3E28-BE412E7C1A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8535223"/>
              </p:ext>
            </p:extLst>
          </p:nvPr>
        </p:nvGraphicFramePr>
        <p:xfrm>
          <a:off x="259455" y="361364"/>
          <a:ext cx="3613003" cy="23361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3003">
                  <a:extLst>
                    <a:ext uri="{9D8B030D-6E8A-4147-A177-3AD203B41FA5}">
                      <a16:colId xmlns:a16="http://schemas.microsoft.com/office/drawing/2014/main" val="2248217477"/>
                    </a:ext>
                  </a:extLst>
                </a:gridCol>
              </a:tblGrid>
              <a:tr h="389353">
                <a:tc>
                  <a:txBody>
                    <a:bodyPr/>
                    <a:lstStyle/>
                    <a:p>
                      <a:r>
                        <a:rPr lang="en-IN" dirty="0"/>
                        <a:t>PRODUCT DIMENSION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9128"/>
                  </a:ext>
                </a:extLst>
              </a:tr>
              <a:tr h="389353">
                <a:tc>
                  <a:txBody>
                    <a:bodyPr/>
                    <a:lstStyle/>
                    <a:p>
                      <a:r>
                        <a:rPr lang="en-IN" dirty="0"/>
                        <a:t>PRODUCT_NAME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523068"/>
                  </a:ext>
                </a:extLst>
              </a:tr>
              <a:tr h="389353">
                <a:tc>
                  <a:txBody>
                    <a:bodyPr/>
                    <a:lstStyle/>
                    <a:p>
                      <a:r>
                        <a:rPr lang="en-IN" dirty="0"/>
                        <a:t>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170988"/>
                  </a:ext>
                </a:extLst>
              </a:tr>
              <a:tr h="389353">
                <a:tc>
                  <a:txBody>
                    <a:bodyPr/>
                    <a:lstStyle/>
                    <a:p>
                      <a:r>
                        <a:rPr lang="en-IN" dirty="0"/>
                        <a:t>BRAND(NIKE,PUMA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14243"/>
                  </a:ext>
                </a:extLst>
              </a:tr>
              <a:tr h="389353">
                <a:tc>
                  <a:txBody>
                    <a:bodyPr/>
                    <a:lstStyle/>
                    <a:p>
                      <a:r>
                        <a:rPr lang="en-IN" dirty="0"/>
                        <a:t>PRODUCT_ID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675753"/>
                  </a:ext>
                </a:extLst>
              </a:tr>
              <a:tr h="389353">
                <a:tc>
                  <a:txBody>
                    <a:bodyPr/>
                    <a:lstStyle/>
                    <a:p>
                      <a:r>
                        <a:rPr lang="en-IN" dirty="0"/>
                        <a:t>TRANSACTION_ID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15669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6F5269A4-4EEB-51D3-8EE2-CF78024F75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1342856"/>
              </p:ext>
            </p:extLst>
          </p:nvPr>
        </p:nvGraphicFramePr>
        <p:xfrm>
          <a:off x="4913653" y="1232970"/>
          <a:ext cx="3613004" cy="2196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3004">
                  <a:extLst>
                    <a:ext uri="{9D8B030D-6E8A-4147-A177-3AD203B41FA5}">
                      <a16:colId xmlns:a16="http://schemas.microsoft.com/office/drawing/2014/main" val="2248217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CUSTOMER  DIMENSION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9128"/>
                  </a:ext>
                </a:extLst>
              </a:tr>
              <a:tr h="366054">
                <a:tc>
                  <a:txBody>
                    <a:bodyPr/>
                    <a:lstStyle/>
                    <a:p>
                      <a:r>
                        <a:rPr lang="en-IN" dirty="0"/>
                        <a:t>CUSTOMER_NAME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523068"/>
                  </a:ext>
                </a:extLst>
              </a:tr>
              <a:tr h="366054">
                <a:tc>
                  <a:txBody>
                    <a:bodyPr/>
                    <a:lstStyle/>
                    <a:p>
                      <a:r>
                        <a:rPr lang="en-IN" dirty="0"/>
                        <a:t>CUSTOMER_ID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170988"/>
                  </a:ext>
                </a:extLst>
              </a:tr>
              <a:tr h="366054">
                <a:tc>
                  <a:txBody>
                    <a:bodyPr/>
                    <a:lstStyle/>
                    <a:p>
                      <a:r>
                        <a:rPr lang="en-IN" dirty="0"/>
                        <a:t>PHONE NUMER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14243"/>
                  </a:ext>
                </a:extLst>
              </a:tr>
              <a:tr h="366054">
                <a:tc>
                  <a:txBody>
                    <a:bodyPr/>
                    <a:lstStyle/>
                    <a:p>
                      <a:r>
                        <a:rPr lang="en-IN" dirty="0"/>
                        <a:t>LOCATION 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0675753"/>
                  </a:ext>
                </a:extLst>
              </a:tr>
              <a:tr h="366054">
                <a:tc>
                  <a:txBody>
                    <a:bodyPr/>
                    <a:lstStyle/>
                    <a:p>
                      <a:r>
                        <a:rPr lang="en-IN" dirty="0"/>
                        <a:t>IS FREQUENT?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156690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7DF98E-FB82-DE89-D2D5-C753C2BE8C7F}"/>
              </a:ext>
            </a:extLst>
          </p:cNvPr>
          <p:cNvCxnSpPr/>
          <p:nvPr/>
        </p:nvCxnSpPr>
        <p:spPr>
          <a:xfrm>
            <a:off x="8874177" y="2488505"/>
            <a:ext cx="0" cy="2089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E49657BA-B637-CA2E-EC6F-FD0FDAEE9F34}"/>
              </a:ext>
            </a:extLst>
          </p:cNvPr>
          <p:cNvCxnSpPr/>
          <p:nvPr/>
        </p:nvCxnSpPr>
        <p:spPr>
          <a:xfrm rot="16200000" flipH="1">
            <a:off x="1432310" y="2809157"/>
            <a:ext cx="2204304" cy="198095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1FE8EF-91C9-582F-4D3C-7F5E079B38CC}"/>
              </a:ext>
            </a:extLst>
          </p:cNvPr>
          <p:cNvCxnSpPr>
            <a:cxnSpLocks/>
          </p:cNvCxnSpPr>
          <p:nvPr/>
        </p:nvCxnSpPr>
        <p:spPr>
          <a:xfrm>
            <a:off x="6460761" y="3429000"/>
            <a:ext cx="0" cy="7315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E37296D-7B45-77FC-7738-4986EDA19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609011"/>
              </p:ext>
            </p:extLst>
          </p:nvPr>
        </p:nvGraphicFramePr>
        <p:xfrm>
          <a:off x="9047396" y="1222539"/>
          <a:ext cx="2534133" cy="2029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4133">
                  <a:extLst>
                    <a:ext uri="{9D8B030D-6E8A-4147-A177-3AD203B41FA5}">
                      <a16:colId xmlns:a16="http://schemas.microsoft.com/office/drawing/2014/main" val="12920040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652222"/>
                  </a:ext>
                </a:extLst>
              </a:tr>
              <a:tr h="554590">
                <a:tc>
                  <a:txBody>
                    <a:bodyPr/>
                    <a:lstStyle/>
                    <a:p>
                      <a:r>
                        <a:rPr lang="en-IN" dirty="0"/>
                        <a:t>LOCATION_ID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875382"/>
                  </a:ext>
                </a:extLst>
              </a:tr>
              <a:tr h="554590">
                <a:tc>
                  <a:txBody>
                    <a:bodyPr/>
                    <a:lstStyle/>
                    <a:p>
                      <a:r>
                        <a:rPr lang="en-IN" dirty="0"/>
                        <a:t> 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875181"/>
                  </a:ext>
                </a:extLst>
              </a:tr>
              <a:tr h="554590">
                <a:tc>
                  <a:txBody>
                    <a:bodyPr/>
                    <a:lstStyle/>
                    <a:p>
                      <a:r>
                        <a:rPr lang="en-IN" dirty="0"/>
                        <a:t>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15999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1AB87A-44EF-0C2F-823C-6EAEF2C7FCB5}"/>
              </a:ext>
            </a:extLst>
          </p:cNvPr>
          <p:cNvCxnSpPr/>
          <p:nvPr/>
        </p:nvCxnSpPr>
        <p:spPr>
          <a:xfrm>
            <a:off x="8526657" y="2330985"/>
            <a:ext cx="5207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398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218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STAR AND SNOWFLAKE SCHEMA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SNOWFLAKE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7</cp:revision>
  <dcterms:created xsi:type="dcterms:W3CDTF">2026-08-04T08:35:09Z</dcterms:created>
  <dcterms:modified xsi:type="dcterms:W3CDTF">2026-08-05T10:49:36Z</dcterms:modified>
</cp:coreProperties>
</file>