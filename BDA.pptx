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57" r:id="rId4"/>
    <p:sldId id="258" r:id="rId5"/>
    <p:sldId id="261" r:id="rId6"/>
    <p:sldId id="259" r:id="rId7"/>
    <p:sldId id="260" r:id="rId8"/>
    <p:sldId id="262" r:id="rId9"/>
    <p:sldId id="271"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9" d="100"/>
          <a:sy n="69"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B8E3EFB-90BC-4297-9D9F-E2FA75FE512A}"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1790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B8E3EFB-90BC-4297-9D9F-E2FA75FE512A}"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867227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8E3EFB-90BC-4297-9D9F-E2FA75FE512A}"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83527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1B8E3EFB-90BC-4297-9D9F-E2FA75FE512A}"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919585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B8E3EFB-90BC-4297-9D9F-E2FA75FE512A}" type="datetimeFigureOut">
              <a:rPr lang="en-IN" smtClean="0"/>
              <a:t>31-08-2026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3180690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B8E3EFB-90BC-4297-9D9F-E2FA75FE512A}" type="datetimeFigureOut">
              <a:rPr lang="en-IN" smtClean="0"/>
              <a:t>31-08-2026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305965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8E3EFB-90BC-4297-9D9F-E2FA75FE512A}" type="datetimeFigureOut">
              <a:rPr lang="en-IN" smtClean="0"/>
              <a:t>31-08-2026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491367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8E3EFB-90BC-4297-9D9F-E2FA75FE512A}"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482059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B8E3EFB-90BC-4297-9D9F-E2FA75FE512A}" type="datetimeFigureOut">
              <a:rPr lang="en-IN" smtClean="0"/>
              <a:t>31-08-2026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2993106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B8E3EFB-90BC-4297-9D9F-E2FA75FE512A}"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2342700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B8E3EFB-90BC-4297-9D9F-E2FA75FE512A}" type="datetimeFigureOut">
              <a:rPr lang="en-IN" smtClean="0"/>
              <a:t>31-08-2026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924D7E-F9C9-43A4-A25F-754DC8A0C08B}" type="slidenum">
              <a:rPr lang="en-IN" smtClean="0"/>
              <a:t>‹#›</a:t>
            </a:fld>
            <a:endParaRPr lang="en-IN"/>
          </a:p>
        </p:txBody>
      </p:sp>
    </p:spTree>
    <p:extLst>
      <p:ext uri="{BB962C8B-B14F-4D97-AF65-F5344CB8AC3E}">
        <p14:creationId xmlns:p14="http://schemas.microsoft.com/office/powerpoint/2010/main" val="130108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8E3EFB-90BC-4297-9D9F-E2FA75FE512A}" type="datetimeFigureOut">
              <a:rPr lang="en-IN" smtClean="0"/>
              <a:t>31-08-2026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924D7E-F9C9-43A4-A25F-754DC8A0C08B}" type="slidenum">
              <a:rPr lang="en-IN" smtClean="0"/>
              <a:t>‹#›</a:t>
            </a:fld>
            <a:endParaRPr lang="en-IN"/>
          </a:p>
        </p:txBody>
      </p:sp>
    </p:spTree>
    <p:extLst>
      <p:ext uri="{BB962C8B-B14F-4D97-AF65-F5344CB8AC3E}">
        <p14:creationId xmlns:p14="http://schemas.microsoft.com/office/powerpoint/2010/main" val="27558285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70573" y="565966"/>
            <a:ext cx="12034685" cy="1754326"/>
          </a:xfrm>
          <a:prstGeom prst="rect">
            <a:avLst/>
          </a:prstGeom>
          <a:noFill/>
        </p:spPr>
        <p:txBody>
          <a:bodyPr wrap="squar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MAP REDUCE : FRAMEWORK AND ITS ARCHITECTURE </a:t>
            </a:r>
          </a:p>
        </p:txBody>
      </p:sp>
      <p:sp>
        <p:nvSpPr>
          <p:cNvPr id="5" name="Rectangle 4"/>
          <p:cNvSpPr/>
          <p:nvPr/>
        </p:nvSpPr>
        <p:spPr>
          <a:xfrm>
            <a:off x="8003097" y="3747511"/>
            <a:ext cx="3961015" cy="923330"/>
          </a:xfrm>
          <a:prstGeom prst="rect">
            <a:avLst/>
          </a:prstGeom>
          <a:noFill/>
        </p:spPr>
        <p:txBody>
          <a:bodyPr wrap="square" lIns="91440" tIns="45720" rIns="91440" bIns="45720">
            <a:spAutoFit/>
          </a:bodyPr>
          <a:lstStyle/>
          <a:p>
            <a:pPr algn="ctr"/>
            <a:r>
              <a:rPr lang="en-US" dirty="0" err="1">
                <a:ln w="0"/>
                <a:solidFill>
                  <a:schemeClr val="accent1"/>
                </a:solidFill>
                <a:effectLst>
                  <a:outerShdw blurRad="38100" dist="25400" dir="5400000" algn="ctr" rotWithShape="0">
                    <a:srgbClr val="6E747A">
                      <a:alpha val="43000"/>
                    </a:srgbClr>
                  </a:outerShdw>
                </a:effectLst>
              </a:rPr>
              <a:t>Sital</a:t>
            </a:r>
            <a:r>
              <a:rPr lang="en-US" dirty="0">
                <a:ln w="0"/>
                <a:solidFill>
                  <a:schemeClr val="accent1"/>
                </a:solidFill>
                <a:effectLst>
                  <a:outerShdw blurRad="38100" dist="25400" dir="5400000" algn="ctr" rotWithShape="0">
                    <a:srgbClr val="6E747A">
                      <a:alpha val="43000"/>
                    </a:srgbClr>
                  </a:outerShdw>
                </a:effectLst>
              </a:rPr>
              <a:t> </a:t>
            </a:r>
            <a:r>
              <a:rPr lang="en-US" dirty="0" err="1">
                <a:ln w="0"/>
                <a:solidFill>
                  <a:schemeClr val="accent1"/>
                </a:solidFill>
                <a:effectLst>
                  <a:outerShdw blurRad="38100" dist="25400" dir="5400000" algn="ctr" rotWithShape="0">
                    <a:srgbClr val="6E747A">
                      <a:alpha val="43000"/>
                    </a:srgbClr>
                  </a:outerShdw>
                </a:effectLst>
              </a:rPr>
              <a:t>Shama</a:t>
            </a:r>
            <a:endParaRPr lang="en-US" dirty="0">
              <a:ln w="0"/>
              <a:solidFill>
                <a:schemeClr val="accent1"/>
              </a:solidFill>
              <a:effectLst>
                <a:outerShdw blurRad="38100" dist="25400" dir="5400000" algn="ctr" rotWithShape="0">
                  <a:srgbClr val="6E747A">
                    <a:alpha val="43000"/>
                  </a:srgbClr>
                </a:outerShdw>
              </a:effectLst>
            </a:endParaRPr>
          </a:p>
          <a:p>
            <a:pPr algn="ctr"/>
            <a:r>
              <a:rPr lang="en-US">
                <a:ln w="0"/>
                <a:solidFill>
                  <a:schemeClr val="accent1"/>
                </a:solidFill>
                <a:effectLst>
                  <a:outerShdw blurRad="38100" dist="25400" dir="5400000" algn="ctr" rotWithShape="0">
                    <a:srgbClr val="6E747A">
                      <a:alpha val="43000"/>
                    </a:srgbClr>
                  </a:outerShdw>
                </a:effectLst>
              </a:rPr>
              <a:t>Assistant Professor</a:t>
            </a:r>
            <a:endParaRPr lang="en-US" dirty="0">
              <a:ln w="0"/>
              <a:solidFill>
                <a:schemeClr val="accent1"/>
              </a:solidFill>
              <a:effectLst>
                <a:outerShdw blurRad="38100" dist="25400" dir="5400000" algn="ctr" rotWithShape="0">
                  <a:srgbClr val="6E747A">
                    <a:alpha val="43000"/>
                  </a:srgbClr>
                </a:outerShdw>
              </a:effectLst>
            </a:endParaRPr>
          </a:p>
          <a:p>
            <a:pPr algn="ctr"/>
            <a:r>
              <a:rPr lang="en-US" b="0" cap="none" spc="0" dirty="0">
                <a:ln w="0"/>
                <a:solidFill>
                  <a:schemeClr val="accent1"/>
                </a:solidFill>
                <a:effectLst>
                  <a:outerShdw blurRad="38100" dist="25400" dir="5400000" algn="ctr" rotWithShape="0">
                    <a:srgbClr val="6E747A">
                      <a:alpha val="43000"/>
                    </a:srgbClr>
                  </a:outerShdw>
                </a:effectLst>
              </a:rPr>
              <a:t>BDA Theory ( Summer Session)</a:t>
            </a:r>
          </a:p>
        </p:txBody>
      </p:sp>
    </p:spTree>
    <p:extLst>
      <p:ext uri="{BB962C8B-B14F-4D97-AF65-F5344CB8AC3E}">
        <p14:creationId xmlns:p14="http://schemas.microsoft.com/office/powerpoint/2010/main" val="870647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A13F06-A7BF-3562-4AA6-89A29CCAA206}"/>
              </a:ext>
            </a:extLst>
          </p:cNvPr>
          <p:cNvPicPr>
            <a:picLocks noChangeAspect="1"/>
          </p:cNvPicPr>
          <p:nvPr/>
        </p:nvPicPr>
        <p:blipFill>
          <a:blip r:embed="rId2"/>
          <a:stretch>
            <a:fillRect/>
          </a:stretch>
        </p:blipFill>
        <p:spPr>
          <a:xfrm>
            <a:off x="1640032" y="1219199"/>
            <a:ext cx="8388928" cy="4793673"/>
          </a:xfrm>
          <a:prstGeom prst="rect">
            <a:avLst/>
          </a:prstGeom>
        </p:spPr>
      </p:pic>
    </p:spTree>
    <p:extLst>
      <p:ext uri="{BB962C8B-B14F-4D97-AF65-F5344CB8AC3E}">
        <p14:creationId xmlns:p14="http://schemas.microsoft.com/office/powerpoint/2010/main" val="7780968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Map Reduce Introduction</a:t>
            </a:r>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Hadoop's </a:t>
            </a:r>
            <a:r>
              <a:rPr lang="en-US" dirty="0" err="1">
                <a:latin typeface="Times New Roman" panose="02020603050405020304" pitchFamily="18" charset="0"/>
                <a:cs typeface="Times New Roman" panose="02020603050405020304" pitchFamily="18" charset="0"/>
              </a:rPr>
              <a:t>MapReduce</a:t>
            </a:r>
            <a:r>
              <a:rPr lang="en-US" dirty="0">
                <a:latin typeface="Times New Roman" panose="02020603050405020304" pitchFamily="18" charset="0"/>
                <a:cs typeface="Times New Roman" panose="02020603050405020304" pitchFamily="18" charset="0"/>
              </a:rPr>
              <a:t> architecture is used to create applications that can process enormous volumes of data on big clusters. It is also known as a programming model that enables us to process big datasets across computer clusters. This program enables the distributed storage of data. Large-scale computation and huge volumes of data are made simpler.</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2483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Map Reduce Definition</a:t>
            </a:r>
          </a:p>
        </p:txBody>
      </p:sp>
      <p:sp>
        <p:nvSpPr>
          <p:cNvPr id="3" name="Content Placeholder 2"/>
          <p:cNvSpPr>
            <a:spLocks noGrp="1"/>
          </p:cNvSpPr>
          <p:nvPr>
            <p:ph idx="1"/>
          </p:nvPr>
        </p:nvSpPr>
        <p:spPr/>
        <p:txBody>
          <a:bodyPr/>
          <a:lstStyle/>
          <a:p>
            <a:pPr algn="just"/>
            <a:r>
              <a:rPr lang="en-US" dirty="0" err="1">
                <a:latin typeface="Times New Roman" panose="02020603050405020304" pitchFamily="18" charset="0"/>
                <a:cs typeface="Times New Roman" panose="02020603050405020304" pitchFamily="18" charset="0"/>
              </a:rPr>
              <a:t>MapReduce</a:t>
            </a:r>
            <a:r>
              <a:rPr lang="en-US" dirty="0">
                <a:latin typeface="Times New Roman" panose="02020603050405020304" pitchFamily="18" charset="0"/>
                <a:cs typeface="Times New Roman" panose="02020603050405020304" pitchFamily="18" charset="0"/>
              </a:rPr>
              <a:t> is a processing technique and a program model for distributed computing based on java. The </a:t>
            </a:r>
            <a:r>
              <a:rPr lang="en-US" dirty="0" err="1">
                <a:latin typeface="Times New Roman" panose="02020603050405020304" pitchFamily="18" charset="0"/>
                <a:cs typeface="Times New Roman" panose="02020603050405020304" pitchFamily="18" charset="0"/>
              </a:rPr>
              <a:t>MapReduce</a:t>
            </a:r>
            <a:r>
              <a:rPr lang="en-US" dirty="0">
                <a:latin typeface="Times New Roman" panose="02020603050405020304" pitchFamily="18" charset="0"/>
                <a:cs typeface="Times New Roman" panose="02020603050405020304" pitchFamily="18" charset="0"/>
              </a:rPr>
              <a:t> algorithm contains two important tasks, namely Map and Reduce. </a:t>
            </a:r>
            <a:r>
              <a:rPr lang="en-US" b="1" dirty="0">
                <a:latin typeface="Times New Roman" panose="02020603050405020304" pitchFamily="18" charset="0"/>
                <a:cs typeface="Times New Roman" panose="02020603050405020304" pitchFamily="18" charset="0"/>
              </a:rPr>
              <a:t>Map takes a set of data and converts it into another set of data</a:t>
            </a:r>
            <a:r>
              <a:rPr lang="en-US" dirty="0">
                <a:latin typeface="Times New Roman" panose="02020603050405020304" pitchFamily="18" charset="0"/>
                <a:cs typeface="Times New Roman" panose="02020603050405020304" pitchFamily="18" charset="0"/>
              </a:rPr>
              <a:t>, where individual elements are broken down into tuples (key/value pairs). Secondly, reduce task, which takes the </a:t>
            </a:r>
            <a:r>
              <a:rPr lang="en-US" b="1" dirty="0">
                <a:latin typeface="Times New Roman" panose="02020603050405020304" pitchFamily="18" charset="0"/>
                <a:cs typeface="Times New Roman" panose="02020603050405020304" pitchFamily="18" charset="0"/>
              </a:rPr>
              <a:t>output from a map as an input </a:t>
            </a:r>
            <a:r>
              <a:rPr lang="en-US" dirty="0">
                <a:latin typeface="Times New Roman" panose="02020603050405020304" pitchFamily="18" charset="0"/>
                <a:cs typeface="Times New Roman" panose="02020603050405020304" pitchFamily="18" charset="0"/>
              </a:rPr>
              <a:t>and combines those data tuples into a smaller set of tuples. As the sequence of the name </a:t>
            </a:r>
            <a:r>
              <a:rPr lang="en-US" dirty="0" err="1">
                <a:latin typeface="Times New Roman" panose="02020603050405020304" pitchFamily="18" charset="0"/>
                <a:cs typeface="Times New Roman" panose="02020603050405020304" pitchFamily="18" charset="0"/>
              </a:rPr>
              <a:t>MapReduce</a:t>
            </a:r>
            <a:r>
              <a:rPr lang="en-US" dirty="0">
                <a:latin typeface="Times New Roman" panose="02020603050405020304" pitchFamily="18" charset="0"/>
                <a:cs typeface="Times New Roman" panose="02020603050405020304" pitchFamily="18" charset="0"/>
              </a:rPr>
              <a:t> implies, the reduce task is always performed after the map job.</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4415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The Algorithm</a:t>
            </a:r>
          </a:p>
        </p:txBody>
      </p:sp>
      <p:sp>
        <p:nvSpPr>
          <p:cNvPr id="3" name="Content Placeholder 2"/>
          <p:cNvSpPr>
            <a:spLocks noGrp="1"/>
          </p:cNvSpPr>
          <p:nvPr>
            <p:ph idx="1"/>
          </p:nvPr>
        </p:nvSpPr>
        <p:spPr/>
        <p:txBody>
          <a:bodyPr>
            <a:normAutofit fontScale="92500" lnSpcReduction="20000"/>
          </a:bodyPr>
          <a:lstStyle/>
          <a:p>
            <a:pPr algn="just"/>
            <a:r>
              <a:rPr lang="en-US" dirty="0" err="1">
                <a:latin typeface="Times New Roman" panose="02020603050405020304" pitchFamily="18" charset="0"/>
                <a:cs typeface="Times New Roman" panose="02020603050405020304" pitchFamily="18" charset="0"/>
              </a:rPr>
              <a:t>MapReduce</a:t>
            </a:r>
            <a:r>
              <a:rPr lang="en-US" dirty="0">
                <a:latin typeface="Times New Roman" panose="02020603050405020304" pitchFamily="18" charset="0"/>
                <a:cs typeface="Times New Roman" panose="02020603050405020304" pitchFamily="18" charset="0"/>
              </a:rPr>
              <a:t> program executes in three stages, namely map stage, shuffle stage, and reduce stage.</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Map stage </a:t>
            </a:r>
            <a:r>
              <a:rPr lang="en-US" dirty="0">
                <a:latin typeface="Times New Roman" panose="02020603050405020304" pitchFamily="18" charset="0"/>
                <a:cs typeface="Times New Roman" panose="02020603050405020304" pitchFamily="18" charset="0"/>
              </a:rPr>
              <a:t>− The map or mapper’s job is to process the input data. Generally the input data is in the form of file or directory and is stored in the Hadoop file system (HDFS). The input file is passed to the mapper function line by line. The mapper processes the data and creates several small chunks of data.</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Reduce stage </a:t>
            </a:r>
            <a:r>
              <a:rPr lang="en-US" dirty="0">
                <a:latin typeface="Times New Roman" panose="02020603050405020304" pitchFamily="18" charset="0"/>
                <a:cs typeface="Times New Roman" panose="02020603050405020304" pitchFamily="18" charset="0"/>
              </a:rPr>
              <a:t>− This stage is the combination of the Shuffle stage and the Reduce stage. The Reducer’s job is to process the data that comes from the mapper. After processing, it produces a new set of output, which will be stored in the HDFS.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649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a:latin typeface="Times New Roman" panose="02020603050405020304" pitchFamily="18" charset="0"/>
                <a:cs typeface="Times New Roman" panose="02020603050405020304" pitchFamily="18" charset="0"/>
              </a:rPr>
              <a:t>MapReduce</a:t>
            </a:r>
            <a:r>
              <a:rPr lang="en-IN" dirty="0">
                <a:latin typeface="Times New Roman" panose="02020603050405020304" pitchFamily="18" charset="0"/>
                <a:cs typeface="Times New Roman" panose="02020603050405020304" pitchFamily="18" charset="0"/>
              </a:rPr>
              <a:t> Architecture</a:t>
            </a:r>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96390" y="1484750"/>
            <a:ext cx="5166179" cy="4566412"/>
          </a:xfrm>
        </p:spPr>
      </p:pic>
      <p:sp>
        <p:nvSpPr>
          <p:cNvPr id="5" name="Rectangle 4"/>
          <p:cNvSpPr/>
          <p:nvPr/>
        </p:nvSpPr>
        <p:spPr>
          <a:xfrm>
            <a:off x="5587068" y="1718448"/>
            <a:ext cx="6339281" cy="4247317"/>
          </a:xfrm>
          <a:prstGeom prst="rect">
            <a:avLst/>
          </a:prstGeom>
        </p:spPr>
        <p:txBody>
          <a:bodyPr wrap="square">
            <a:spAutoFit/>
          </a:bodyPr>
          <a:lstStyle/>
          <a:p>
            <a:pPr algn="just">
              <a:buFont typeface="+mj-lt"/>
              <a:buAutoNum type="arabicPeriod"/>
            </a:pPr>
            <a:r>
              <a:rPr lang="en-US" b="1" dirty="0">
                <a:effectLst/>
                <a:latin typeface="Times New Roman" panose="02020603050405020304" pitchFamily="18" charset="0"/>
                <a:cs typeface="Times New Roman" panose="02020603050405020304" pitchFamily="18" charset="0"/>
              </a:rPr>
              <a:t>Client:</a:t>
            </a:r>
            <a:r>
              <a:rPr lang="en-US" dirty="0">
                <a:effectLst/>
                <a:latin typeface="Times New Roman" panose="02020603050405020304" pitchFamily="18" charset="0"/>
                <a:cs typeface="Times New Roman" panose="02020603050405020304" pitchFamily="18" charset="0"/>
              </a:rPr>
              <a:t> The </a:t>
            </a:r>
            <a:r>
              <a:rPr lang="en-US" dirty="0" err="1">
                <a:effectLst/>
                <a:latin typeface="Times New Roman" panose="02020603050405020304" pitchFamily="18" charset="0"/>
                <a:cs typeface="Times New Roman" panose="02020603050405020304" pitchFamily="18" charset="0"/>
              </a:rPr>
              <a:t>MapReduce</a:t>
            </a:r>
            <a:r>
              <a:rPr lang="en-US" dirty="0">
                <a:effectLst/>
                <a:latin typeface="Times New Roman" panose="02020603050405020304" pitchFamily="18" charset="0"/>
                <a:cs typeface="Times New Roman" panose="02020603050405020304" pitchFamily="18" charset="0"/>
              </a:rPr>
              <a:t> client is the one who brings the Job to the </a:t>
            </a:r>
            <a:r>
              <a:rPr lang="en-US" dirty="0" err="1">
                <a:effectLst/>
                <a:latin typeface="Times New Roman" panose="02020603050405020304" pitchFamily="18" charset="0"/>
                <a:cs typeface="Times New Roman" panose="02020603050405020304" pitchFamily="18" charset="0"/>
              </a:rPr>
              <a:t>MapReduce</a:t>
            </a:r>
            <a:r>
              <a:rPr lang="en-US" dirty="0">
                <a:effectLst/>
                <a:latin typeface="Times New Roman" panose="02020603050405020304" pitchFamily="18" charset="0"/>
                <a:cs typeface="Times New Roman" panose="02020603050405020304" pitchFamily="18" charset="0"/>
              </a:rPr>
              <a:t> for processing. There can be multiple clients available that continuously send jobs for processing to the Hadoop </a:t>
            </a:r>
            <a:r>
              <a:rPr lang="en-US" dirty="0" err="1">
                <a:effectLst/>
                <a:latin typeface="Times New Roman" panose="02020603050405020304" pitchFamily="18" charset="0"/>
                <a:cs typeface="Times New Roman" panose="02020603050405020304" pitchFamily="18" charset="0"/>
              </a:rPr>
              <a:t>MapReduce</a:t>
            </a:r>
            <a:r>
              <a:rPr lang="en-US" dirty="0">
                <a:effectLst/>
                <a:latin typeface="Times New Roman" panose="02020603050405020304" pitchFamily="18" charset="0"/>
                <a:cs typeface="Times New Roman" panose="02020603050405020304" pitchFamily="18" charset="0"/>
              </a:rPr>
              <a:t> Manager.</a:t>
            </a:r>
          </a:p>
          <a:p>
            <a:pPr algn="just">
              <a:buFont typeface="+mj-lt"/>
              <a:buAutoNum type="arabicPeriod"/>
            </a:pPr>
            <a:r>
              <a:rPr lang="en-US" b="1" dirty="0">
                <a:effectLst/>
                <a:latin typeface="Times New Roman" panose="02020603050405020304" pitchFamily="18" charset="0"/>
                <a:cs typeface="Times New Roman" panose="02020603050405020304" pitchFamily="18" charset="0"/>
              </a:rPr>
              <a:t>Job:</a:t>
            </a:r>
            <a:r>
              <a:rPr lang="en-US" dirty="0">
                <a:effectLst/>
                <a:latin typeface="Times New Roman" panose="02020603050405020304" pitchFamily="18" charset="0"/>
                <a:cs typeface="Times New Roman" panose="02020603050405020304" pitchFamily="18" charset="0"/>
              </a:rPr>
              <a:t> The </a:t>
            </a:r>
            <a:r>
              <a:rPr lang="en-US" dirty="0" err="1">
                <a:effectLst/>
                <a:latin typeface="Times New Roman" panose="02020603050405020304" pitchFamily="18" charset="0"/>
                <a:cs typeface="Times New Roman" panose="02020603050405020304" pitchFamily="18" charset="0"/>
              </a:rPr>
              <a:t>MapReduce</a:t>
            </a:r>
            <a:r>
              <a:rPr lang="en-US" dirty="0">
                <a:effectLst/>
                <a:latin typeface="Times New Roman" panose="02020603050405020304" pitchFamily="18" charset="0"/>
                <a:cs typeface="Times New Roman" panose="02020603050405020304" pitchFamily="18" charset="0"/>
              </a:rPr>
              <a:t> Job is the actual work that the client wanted to do which is comprised of so many smaller tasks that the client wants to process or execute.</a:t>
            </a:r>
          </a:p>
          <a:p>
            <a:pPr algn="just">
              <a:buFont typeface="+mj-lt"/>
              <a:buAutoNum type="arabicPeriod"/>
            </a:pPr>
            <a:r>
              <a:rPr lang="en-US" b="1" dirty="0">
                <a:effectLst/>
                <a:latin typeface="Times New Roman" panose="02020603050405020304" pitchFamily="18" charset="0"/>
                <a:cs typeface="Times New Roman" panose="02020603050405020304" pitchFamily="18" charset="0"/>
              </a:rPr>
              <a:t>Hadoop </a:t>
            </a:r>
            <a:r>
              <a:rPr lang="en-US" b="1" dirty="0" err="1">
                <a:effectLst/>
                <a:latin typeface="Times New Roman" panose="02020603050405020304" pitchFamily="18" charset="0"/>
                <a:cs typeface="Times New Roman" panose="02020603050405020304" pitchFamily="18" charset="0"/>
              </a:rPr>
              <a:t>MapReduce</a:t>
            </a:r>
            <a:r>
              <a:rPr lang="en-US" b="1" dirty="0">
                <a:effectLst/>
                <a:latin typeface="Times New Roman" panose="02020603050405020304" pitchFamily="18" charset="0"/>
                <a:cs typeface="Times New Roman" panose="02020603050405020304" pitchFamily="18" charset="0"/>
              </a:rPr>
              <a:t> Master:</a:t>
            </a:r>
            <a:r>
              <a:rPr lang="en-US" dirty="0">
                <a:effectLst/>
                <a:latin typeface="Times New Roman" panose="02020603050405020304" pitchFamily="18" charset="0"/>
                <a:cs typeface="Times New Roman" panose="02020603050405020304" pitchFamily="18" charset="0"/>
              </a:rPr>
              <a:t> It divides the particular job into subsequent job-parts.</a:t>
            </a:r>
          </a:p>
          <a:p>
            <a:pPr algn="just">
              <a:buFont typeface="+mj-lt"/>
              <a:buAutoNum type="arabicPeriod"/>
            </a:pPr>
            <a:r>
              <a:rPr lang="en-US" b="1" dirty="0">
                <a:effectLst/>
                <a:latin typeface="Times New Roman" panose="02020603050405020304" pitchFamily="18" charset="0"/>
                <a:cs typeface="Times New Roman" panose="02020603050405020304" pitchFamily="18" charset="0"/>
              </a:rPr>
              <a:t>Job-Parts:</a:t>
            </a:r>
            <a:r>
              <a:rPr lang="en-US" dirty="0">
                <a:effectLst/>
                <a:latin typeface="Times New Roman" panose="02020603050405020304" pitchFamily="18" charset="0"/>
                <a:cs typeface="Times New Roman" panose="02020603050405020304" pitchFamily="18" charset="0"/>
              </a:rPr>
              <a:t>  The task or sub-jobs that are obtained after dividing the main job. The result of all the job-parts combined to produce the final output.</a:t>
            </a:r>
          </a:p>
          <a:p>
            <a:pPr algn="just">
              <a:buFont typeface="+mj-lt"/>
              <a:buAutoNum type="arabicPeriod"/>
            </a:pPr>
            <a:r>
              <a:rPr lang="en-US" b="1" dirty="0">
                <a:effectLst/>
                <a:latin typeface="Times New Roman" panose="02020603050405020304" pitchFamily="18" charset="0"/>
                <a:cs typeface="Times New Roman" panose="02020603050405020304" pitchFamily="18" charset="0"/>
              </a:rPr>
              <a:t>Input Data:</a:t>
            </a:r>
            <a:r>
              <a:rPr lang="en-US" dirty="0">
                <a:effectLst/>
                <a:latin typeface="Times New Roman" panose="02020603050405020304" pitchFamily="18" charset="0"/>
                <a:cs typeface="Times New Roman" panose="02020603050405020304" pitchFamily="18" charset="0"/>
              </a:rPr>
              <a:t> The data set that is fed to the </a:t>
            </a:r>
            <a:r>
              <a:rPr lang="en-US" dirty="0" err="1">
                <a:effectLst/>
                <a:latin typeface="Times New Roman" panose="02020603050405020304" pitchFamily="18" charset="0"/>
                <a:cs typeface="Times New Roman" panose="02020603050405020304" pitchFamily="18" charset="0"/>
              </a:rPr>
              <a:t>MapReduce</a:t>
            </a:r>
            <a:r>
              <a:rPr lang="en-US" dirty="0">
                <a:effectLst/>
                <a:latin typeface="Times New Roman" panose="02020603050405020304" pitchFamily="18" charset="0"/>
                <a:cs typeface="Times New Roman" panose="02020603050405020304" pitchFamily="18" charset="0"/>
              </a:rPr>
              <a:t> for processing.</a:t>
            </a:r>
          </a:p>
          <a:p>
            <a:pPr algn="just">
              <a:buFont typeface="+mj-lt"/>
              <a:buAutoNum type="arabicPeriod"/>
            </a:pPr>
            <a:r>
              <a:rPr lang="en-US" b="1" dirty="0">
                <a:effectLst/>
                <a:latin typeface="Times New Roman" panose="02020603050405020304" pitchFamily="18" charset="0"/>
                <a:cs typeface="Times New Roman" panose="02020603050405020304" pitchFamily="18" charset="0"/>
              </a:rPr>
              <a:t>Output Data:</a:t>
            </a:r>
            <a:r>
              <a:rPr lang="en-US" dirty="0">
                <a:effectLst/>
                <a:latin typeface="Times New Roman" panose="02020603050405020304" pitchFamily="18" charset="0"/>
                <a:cs typeface="Times New Roman" panose="02020603050405020304" pitchFamily="18" charset="0"/>
              </a:rPr>
              <a:t> The final result is obtained after the processing.</a:t>
            </a:r>
          </a:p>
        </p:txBody>
      </p:sp>
    </p:spTree>
    <p:extLst>
      <p:ext uri="{BB962C8B-B14F-4D97-AF65-F5344CB8AC3E}">
        <p14:creationId xmlns:p14="http://schemas.microsoft.com/office/powerpoint/2010/main" val="70649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MapReduce Example</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00181" y="1631963"/>
            <a:ext cx="9310557" cy="4575890"/>
          </a:xfrm>
        </p:spPr>
      </p:pic>
    </p:spTree>
    <p:extLst>
      <p:ext uri="{BB962C8B-B14F-4D97-AF65-F5344CB8AC3E}">
        <p14:creationId xmlns:p14="http://schemas.microsoft.com/office/powerpoint/2010/main" val="18117362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537769" y="2866667"/>
            <a:ext cx="8512242" cy="923330"/>
          </a:xfrm>
          <a:prstGeom prst="rect">
            <a:avLst/>
          </a:prstGeom>
          <a:noFill/>
        </p:spPr>
        <p:txBody>
          <a:bodyPr wrap="square" lIns="91440" tIns="45720" rIns="91440" bIns="45720">
            <a:spAutoFit/>
          </a:bodyPr>
          <a:lstStyle/>
          <a:p>
            <a:pPr algn="ctr"/>
            <a:r>
              <a:rPr lang="en-US" sz="5400" b="1" cap="none" spc="0" dirty="0">
                <a:ln w="22225">
                  <a:solidFill>
                    <a:schemeClr val="accent2"/>
                  </a:solidFill>
                  <a:prstDash val="solid"/>
                </a:ln>
                <a:solidFill>
                  <a:schemeClr val="accent2">
                    <a:lumMod val="40000"/>
                    <a:lumOff val="60000"/>
                  </a:schemeClr>
                </a:solidFill>
                <a:effectLst/>
              </a:rPr>
              <a:t>YARN</a:t>
            </a:r>
          </a:p>
        </p:txBody>
      </p:sp>
    </p:spTree>
    <p:extLst>
      <p:ext uri="{BB962C8B-B14F-4D97-AF65-F5344CB8AC3E}">
        <p14:creationId xmlns:p14="http://schemas.microsoft.com/office/powerpoint/2010/main" val="1492221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Apache Hadoop YARN (Yet Another Resource Negotiator) is a resource management layer in </a:t>
            </a:r>
            <a:r>
              <a:rPr lang="en-US" b="1" dirty="0">
                <a:latin typeface="Times New Roman" panose="02020603050405020304" pitchFamily="18" charset="0"/>
                <a:cs typeface="Times New Roman" panose="02020603050405020304" pitchFamily="18" charset="0"/>
              </a:rPr>
              <a:t>Hadoop</a:t>
            </a:r>
            <a:r>
              <a:rPr lang="en-US" dirty="0">
                <a:latin typeface="Times New Roman" panose="02020603050405020304" pitchFamily="18" charset="0"/>
                <a:cs typeface="Times New Roman" panose="02020603050405020304" pitchFamily="18" charset="0"/>
              </a:rPr>
              <a:t>. YARN came into the picture with the introduction of Hadoop 2.x. It allows various data processing engines such as interactive processing, graph processing, batch processing, and stream processing to run and process data stored in</a:t>
            </a:r>
            <a:r>
              <a:rPr lang="en-US" b="1" dirty="0">
                <a:latin typeface="Times New Roman" panose="02020603050405020304" pitchFamily="18" charset="0"/>
                <a:cs typeface="Times New Roman" panose="02020603050405020304" pitchFamily="18" charset="0"/>
              </a:rPr>
              <a:t> HDFS </a:t>
            </a:r>
            <a:r>
              <a:rPr lang="en-US" dirty="0">
                <a:latin typeface="Times New Roman" panose="02020603050405020304" pitchFamily="18" charset="0"/>
                <a:cs typeface="Times New Roman" panose="02020603050405020304" pitchFamily="18" charset="0"/>
              </a:rPr>
              <a:t>(Hadoop Distributed File System).</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YARN was introduced to make the most out of HDFS, and job scheduling is also handled by YARN.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8243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Apache Hadoop YARN (Yet Another Resource Negotiator) is a resource management layer in </a:t>
            </a:r>
            <a:r>
              <a:rPr lang="en-US" b="1" dirty="0">
                <a:latin typeface="Times New Roman" panose="02020603050405020304" pitchFamily="18" charset="0"/>
                <a:cs typeface="Times New Roman" panose="02020603050405020304" pitchFamily="18" charset="0"/>
              </a:rPr>
              <a:t>Hadoop</a:t>
            </a:r>
            <a:r>
              <a:rPr lang="en-US" dirty="0">
                <a:latin typeface="Times New Roman" panose="02020603050405020304" pitchFamily="18" charset="0"/>
                <a:cs typeface="Times New Roman" panose="02020603050405020304" pitchFamily="18" charset="0"/>
              </a:rPr>
              <a:t>. YARN came into the picture with the introduction of Hadoop 2.x. It allows various data processing engines such as interactive processing, graph processing, batch processing, and stream processing to run and process data stored in</a:t>
            </a:r>
            <a:r>
              <a:rPr lang="en-US" b="1" dirty="0">
                <a:latin typeface="Times New Roman" panose="02020603050405020304" pitchFamily="18" charset="0"/>
                <a:cs typeface="Times New Roman" panose="02020603050405020304" pitchFamily="18" charset="0"/>
              </a:rPr>
              <a:t> HDFS </a:t>
            </a:r>
            <a:r>
              <a:rPr lang="en-US" dirty="0">
                <a:latin typeface="Times New Roman" panose="02020603050405020304" pitchFamily="18" charset="0"/>
                <a:cs typeface="Times New Roman" panose="02020603050405020304" pitchFamily="18" charset="0"/>
              </a:rPr>
              <a:t>(Hadoop Distributed File System).</a:t>
            </a:r>
          </a:p>
          <a:p>
            <a:pPr marL="0" indent="0">
              <a:buNone/>
            </a:pP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YARN was introduced to make the most out of HDFS, and job scheduling is also handled by YARN.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3849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t>
            </a:r>
          </a:p>
        </p:txBody>
      </p:sp>
      <p:pic>
        <p:nvPicPr>
          <p:cNvPr id="7" name="Content Placeholder 6"/>
          <p:cNvPicPr>
            <a:picLocks noGrp="1" noChangeAspect="1"/>
          </p:cNvPicPr>
          <p:nvPr>
            <p:ph idx="1"/>
          </p:nvPr>
        </p:nvPicPr>
        <p:blipFill rotWithShape="1">
          <a:blip r:embed="rId2"/>
          <a:srcRect t="18859"/>
          <a:stretch/>
        </p:blipFill>
        <p:spPr>
          <a:xfrm>
            <a:off x="2541319" y="2273416"/>
            <a:ext cx="6845962" cy="2114026"/>
          </a:xfrm>
          <a:prstGeom prst="rect">
            <a:avLst/>
          </a:prstGeom>
        </p:spPr>
      </p:pic>
    </p:spTree>
    <p:extLst>
      <p:ext uri="{BB962C8B-B14F-4D97-AF65-F5344CB8AC3E}">
        <p14:creationId xmlns:p14="http://schemas.microsoft.com/office/powerpoint/2010/main" val="3733275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a:t>
            </a:r>
          </a:p>
        </p:txBody>
      </p:sp>
      <p:sp>
        <p:nvSpPr>
          <p:cNvPr id="3" name="Content Placeholder 2"/>
          <p:cNvSpPr>
            <a:spLocks noGrp="1"/>
          </p:cNvSpPr>
          <p:nvPr>
            <p:ph idx="1"/>
          </p:nvPr>
        </p:nvSpPr>
        <p:spPr/>
        <p:txBody>
          <a:bodyPr>
            <a:normAutofit/>
          </a:bodyPr>
          <a:lstStyle/>
          <a:p>
            <a:pPr marL="0" indent="0">
              <a:buNone/>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444" y="1249305"/>
            <a:ext cx="10696356" cy="5386387"/>
          </a:xfrm>
          <a:prstGeom prst="rect">
            <a:avLst/>
          </a:prstGeom>
        </p:spPr>
      </p:pic>
    </p:spTree>
    <p:extLst>
      <p:ext uri="{BB962C8B-B14F-4D97-AF65-F5344CB8AC3E}">
        <p14:creationId xmlns:p14="http://schemas.microsoft.com/office/powerpoint/2010/main" val="2521014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 Components</a:t>
            </a:r>
          </a:p>
        </p:txBody>
      </p:sp>
      <p:sp>
        <p:nvSpPr>
          <p:cNvPr id="3" name="Content Placeholder 2"/>
          <p:cNvSpPr>
            <a:spLocks noGrp="1"/>
          </p:cNvSpPr>
          <p:nvPr>
            <p:ph idx="1"/>
          </p:nvPr>
        </p:nvSpPr>
        <p:spPr/>
        <p:txBody>
          <a:bodyPr>
            <a:normAutofit fontScale="85000" lnSpcReduction="20000"/>
          </a:bodyPr>
          <a:lstStyle/>
          <a:p>
            <a:pPr algn="just"/>
            <a:r>
              <a:rPr lang="en-US" b="1" dirty="0">
                <a:latin typeface="Times New Roman" panose="02020603050405020304" pitchFamily="18" charset="0"/>
                <a:cs typeface="Times New Roman" panose="02020603050405020304" pitchFamily="18" charset="0"/>
              </a:rPr>
              <a:t>Client: </a:t>
            </a:r>
            <a:r>
              <a:rPr lang="en-US" dirty="0">
                <a:latin typeface="Times New Roman" panose="02020603050405020304" pitchFamily="18" charset="0"/>
                <a:cs typeface="Times New Roman" panose="02020603050405020304" pitchFamily="18" charset="0"/>
              </a:rPr>
              <a:t>It submits map-reduce jobs.</a:t>
            </a:r>
          </a:p>
          <a:p>
            <a:pPr algn="just"/>
            <a:r>
              <a:rPr lang="en-US" b="1" dirty="0">
                <a:latin typeface="Times New Roman" panose="02020603050405020304" pitchFamily="18" charset="0"/>
                <a:cs typeface="Times New Roman" panose="02020603050405020304" pitchFamily="18" charset="0"/>
              </a:rPr>
              <a:t>Resource Manager: </a:t>
            </a:r>
            <a:r>
              <a:rPr lang="en-US" dirty="0">
                <a:latin typeface="Times New Roman" panose="02020603050405020304" pitchFamily="18" charset="0"/>
                <a:cs typeface="Times New Roman" panose="02020603050405020304" pitchFamily="18" charset="0"/>
              </a:rPr>
              <a:t>It is the master daemon of YARN and is responsible for resource assignment and management among all the applications. Whenever it receives a processing request, it forwards it to the corresponding node manager and allocates resources for the completion of the request accordingly. It has two major components: </a:t>
            </a:r>
          </a:p>
          <a:p>
            <a:pPr algn="just"/>
            <a:endParaRPr lang="en-US"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Scheduler:</a:t>
            </a:r>
            <a:r>
              <a:rPr lang="en-US" dirty="0">
                <a:latin typeface="Times New Roman" panose="02020603050405020304" pitchFamily="18" charset="0"/>
                <a:cs typeface="Times New Roman" panose="02020603050405020304" pitchFamily="18" charset="0"/>
              </a:rPr>
              <a:t> It performs scheduling based on the allocated application and available resources. It is a pure scheduler, means it does not perform other tasks such as monitoring or tracking and does not guarantee a restart if a task fails. The YARN scheduler supports plugins such as Capacity Scheduler and Fair Scheduler to partition the cluster resources.</a:t>
            </a:r>
          </a:p>
          <a:p>
            <a:pPr marL="457200" lvl="1" indent="0" algn="just">
              <a:buNone/>
            </a:pPr>
            <a:endParaRPr lang="en-US" dirty="0">
              <a:latin typeface="Times New Roman" panose="02020603050405020304" pitchFamily="18" charset="0"/>
              <a:cs typeface="Times New Roman" panose="02020603050405020304" pitchFamily="18" charset="0"/>
            </a:endParaRPr>
          </a:p>
          <a:p>
            <a:pPr lvl="1" algn="just"/>
            <a:r>
              <a:rPr lang="en-US" b="1" dirty="0">
                <a:latin typeface="Times New Roman" panose="02020603050405020304" pitchFamily="18" charset="0"/>
                <a:cs typeface="Times New Roman" panose="02020603050405020304" pitchFamily="18" charset="0"/>
              </a:rPr>
              <a:t>Application manager:</a:t>
            </a:r>
            <a:r>
              <a:rPr lang="en-US" dirty="0">
                <a:latin typeface="Times New Roman" panose="02020603050405020304" pitchFamily="18" charset="0"/>
                <a:cs typeface="Times New Roman" panose="02020603050405020304" pitchFamily="18" charset="0"/>
              </a:rPr>
              <a:t> It is responsible for accepting the application and negotiating the first container from the resource manager. It also restarts the Application Master container if a task fails.</a:t>
            </a:r>
          </a:p>
          <a:p>
            <a:pPr lvl="1"/>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54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 Components</a:t>
            </a:r>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Node Manager: </a:t>
            </a:r>
            <a:r>
              <a:rPr lang="en-US" dirty="0">
                <a:latin typeface="Times New Roman" panose="02020603050405020304" pitchFamily="18" charset="0"/>
                <a:cs typeface="Times New Roman" panose="02020603050405020304" pitchFamily="18" charset="0"/>
              </a:rPr>
              <a:t>It take care of individual node on Hadoop cluster and manages application and workflow and that particular node. Its primary job is to keep-up with the Resource Manager. It registers with the Resource Manager and sends heartbeats with the health status of the node. It monitors resource usage, performs log management and also kills a container based on directions from the resource manager. It is also responsible for creating the container process and start it on the request of Application master.</a:t>
            </a:r>
          </a:p>
        </p:txBody>
      </p:sp>
    </p:spTree>
    <p:extLst>
      <p:ext uri="{BB962C8B-B14F-4D97-AF65-F5344CB8AC3E}">
        <p14:creationId xmlns:p14="http://schemas.microsoft.com/office/powerpoint/2010/main" val="8215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 Components</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Application Master: </a:t>
            </a:r>
            <a:r>
              <a:rPr lang="en-US" dirty="0">
                <a:latin typeface="Times New Roman" panose="02020603050405020304" pitchFamily="18" charset="0"/>
                <a:cs typeface="Times New Roman" panose="02020603050405020304" pitchFamily="18" charset="0"/>
              </a:rPr>
              <a:t>An application is a single job submitted to a framework. The application master is responsible for negotiating resources with the resource manager, tracking the status and monitoring progress of a single application. The application master requests the container from the node manager by sending a Container Launch Context(CLC) which includes everything an application needs to run. Once the application is started, it sends the health report to the resource manager from time-to-time.</a:t>
            </a:r>
          </a:p>
        </p:txBody>
      </p:sp>
    </p:spTree>
    <p:extLst>
      <p:ext uri="{BB962C8B-B14F-4D97-AF65-F5344CB8AC3E}">
        <p14:creationId xmlns:p14="http://schemas.microsoft.com/office/powerpoint/2010/main" val="2835751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YARN Architecture Components</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Container: </a:t>
            </a:r>
            <a:r>
              <a:rPr lang="en-US" dirty="0">
                <a:latin typeface="Times New Roman" panose="02020603050405020304" pitchFamily="18" charset="0"/>
                <a:cs typeface="Times New Roman" panose="02020603050405020304" pitchFamily="18" charset="0"/>
              </a:rPr>
              <a:t>It is a collection of physical resources such as RAM, CPU cores and disk on a single node. The containers are invoked by Container Launch Context(CLC) which is a record that contains information such as environment variables, security tokens, dependencies etc.</a:t>
            </a:r>
          </a:p>
        </p:txBody>
      </p:sp>
    </p:spTree>
    <p:extLst>
      <p:ext uri="{BB962C8B-B14F-4D97-AF65-F5344CB8AC3E}">
        <p14:creationId xmlns:p14="http://schemas.microsoft.com/office/powerpoint/2010/main" val="1476876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Application workflow in Hadoop YARN</a:t>
            </a:r>
            <a:endParaRPr lang="en-IN" dirty="0">
              <a:latin typeface="Times New Roman" panose="02020603050405020304" pitchFamily="18" charset="0"/>
              <a:cs typeface="Times New Roman" panose="0202060305040502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3915" y="1582345"/>
            <a:ext cx="5244824" cy="4860400"/>
          </a:xfrm>
        </p:spPr>
      </p:pic>
      <p:sp>
        <p:nvSpPr>
          <p:cNvPr id="5" name="Rectangle 4"/>
          <p:cNvSpPr/>
          <p:nvPr/>
        </p:nvSpPr>
        <p:spPr>
          <a:xfrm>
            <a:off x="6207853" y="1690688"/>
            <a:ext cx="5984147" cy="3970318"/>
          </a:xfrm>
          <a:prstGeom prst="rect">
            <a:avLst/>
          </a:prstGeom>
        </p:spPr>
        <p:txBody>
          <a:bodyPr wrap="square">
            <a:spAutoFit/>
          </a:bodyPr>
          <a:lstStyle/>
          <a:p>
            <a:pPr algn="just">
              <a:buFont typeface="+mj-lt"/>
              <a:buAutoNum type="arabicPeriod"/>
            </a:pPr>
            <a:r>
              <a:rPr lang="en-US" dirty="0">
                <a:latin typeface="Times New Roman" panose="02020603050405020304" pitchFamily="18" charset="0"/>
                <a:cs typeface="Times New Roman" panose="02020603050405020304" pitchFamily="18" charset="0"/>
              </a:rPr>
              <a:t>Client submits an application</a:t>
            </a:r>
          </a:p>
          <a:p>
            <a:pPr algn="just">
              <a:buFont typeface="+mj-lt"/>
              <a:buAutoNum type="arabicPeriod"/>
            </a:pPr>
            <a:r>
              <a:rPr lang="en-US" dirty="0">
                <a:latin typeface="Times New Roman" panose="02020603050405020304" pitchFamily="18" charset="0"/>
                <a:cs typeface="Times New Roman" panose="02020603050405020304" pitchFamily="18" charset="0"/>
              </a:rPr>
              <a:t>The Resource Manager allocates a container to start the Application Manager</a:t>
            </a:r>
          </a:p>
          <a:p>
            <a:pPr algn="just">
              <a:buFont typeface="+mj-lt"/>
              <a:buAutoNum type="arabicPeriod"/>
            </a:pPr>
            <a:r>
              <a:rPr lang="en-US" dirty="0">
                <a:latin typeface="Times New Roman" panose="02020603050405020304" pitchFamily="18" charset="0"/>
                <a:cs typeface="Times New Roman" panose="02020603050405020304" pitchFamily="18" charset="0"/>
              </a:rPr>
              <a:t>The Application Manager registers itself with the Resource Manager</a:t>
            </a:r>
          </a:p>
          <a:p>
            <a:pPr algn="just">
              <a:buFont typeface="+mj-lt"/>
              <a:buAutoNum type="arabicPeriod"/>
            </a:pPr>
            <a:r>
              <a:rPr lang="en-US" dirty="0">
                <a:latin typeface="Times New Roman" panose="02020603050405020304" pitchFamily="18" charset="0"/>
                <a:cs typeface="Times New Roman" panose="02020603050405020304" pitchFamily="18" charset="0"/>
              </a:rPr>
              <a:t>The Application Manager negotiates containers from the Resource Manager</a:t>
            </a:r>
          </a:p>
          <a:p>
            <a:pPr algn="just">
              <a:buFont typeface="+mj-lt"/>
              <a:buAutoNum type="arabicPeriod"/>
            </a:pPr>
            <a:r>
              <a:rPr lang="en-US" dirty="0">
                <a:latin typeface="Times New Roman" panose="02020603050405020304" pitchFamily="18" charset="0"/>
                <a:cs typeface="Times New Roman" panose="02020603050405020304" pitchFamily="18" charset="0"/>
              </a:rPr>
              <a:t>The Application Manager notifies the Node Manager to launch containers</a:t>
            </a:r>
          </a:p>
          <a:p>
            <a:pPr algn="just">
              <a:buFont typeface="+mj-lt"/>
              <a:buAutoNum type="arabicPeriod"/>
            </a:pPr>
            <a:r>
              <a:rPr lang="en-US" dirty="0">
                <a:latin typeface="Times New Roman" panose="02020603050405020304" pitchFamily="18" charset="0"/>
                <a:cs typeface="Times New Roman" panose="02020603050405020304" pitchFamily="18" charset="0"/>
              </a:rPr>
              <a:t>Application code is executed in the container</a:t>
            </a:r>
          </a:p>
          <a:p>
            <a:pPr algn="just">
              <a:buFont typeface="+mj-lt"/>
              <a:buAutoNum type="arabicPeriod"/>
            </a:pPr>
            <a:r>
              <a:rPr lang="en-US" dirty="0">
                <a:latin typeface="Times New Roman" panose="02020603050405020304" pitchFamily="18" charset="0"/>
                <a:cs typeface="Times New Roman" panose="02020603050405020304" pitchFamily="18" charset="0"/>
              </a:rPr>
              <a:t>Client contacts Resource Manager/Application Manager to monitor application’s status</a:t>
            </a:r>
          </a:p>
          <a:p>
            <a:pPr algn="just">
              <a:buFont typeface="+mj-lt"/>
              <a:buAutoNum type="arabicPeriod"/>
            </a:pPr>
            <a:r>
              <a:rPr lang="en-US" dirty="0">
                <a:latin typeface="Times New Roman" panose="02020603050405020304" pitchFamily="18" charset="0"/>
                <a:cs typeface="Times New Roman" panose="02020603050405020304" pitchFamily="18" charset="0"/>
              </a:rPr>
              <a:t>Once the processing is complete, the Application Manager un-registers with the Resource Manager</a:t>
            </a:r>
          </a:p>
        </p:txBody>
      </p:sp>
    </p:spTree>
    <p:extLst>
      <p:ext uri="{BB962C8B-B14F-4D97-AF65-F5344CB8AC3E}">
        <p14:creationId xmlns:p14="http://schemas.microsoft.com/office/powerpoint/2010/main" val="246672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1112</Words>
  <Application>Microsoft Office PowerPoint</Application>
  <PresentationFormat>Widescreen</PresentationFormat>
  <Paragraphs>55</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PowerPoint Presentation</vt:lpstr>
      <vt:lpstr>PowerPoint Presentation</vt:lpstr>
      <vt:lpstr>Map Reduce Introduction</vt:lpstr>
      <vt:lpstr>Map Reduce Definition</vt:lpstr>
      <vt:lpstr>The Algorithm</vt:lpstr>
      <vt:lpstr>MapReduce Architecture</vt:lpstr>
      <vt:lpstr>MapReduce Example</vt:lpstr>
      <vt:lpstr>PowerPoint Presentation</vt:lpstr>
      <vt:lpstr>YARN Architecture</vt:lpstr>
      <vt:lpstr>YARN Architecture</vt:lpstr>
      <vt:lpstr>YARN </vt:lpstr>
      <vt:lpstr>YARN Architecture</vt:lpstr>
      <vt:lpstr>YARN Architecture Components</vt:lpstr>
      <vt:lpstr>YARN Architecture Components</vt:lpstr>
      <vt:lpstr>YARN Architecture Components</vt:lpstr>
      <vt:lpstr>YARN Architecture Components</vt:lpstr>
      <vt:lpstr>Application workflow in Hadoop YARN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AIandDS Lab</dc:creator>
  <cp:lastModifiedBy>Sital Sharma</cp:lastModifiedBy>
  <cp:revision>9</cp:revision>
  <dcterms:created xsi:type="dcterms:W3CDTF">2023-08-16T09:00:06Z</dcterms:created>
  <dcterms:modified xsi:type="dcterms:W3CDTF">2026-08-31T09:36:29Z</dcterms:modified>
</cp:coreProperties>
</file>